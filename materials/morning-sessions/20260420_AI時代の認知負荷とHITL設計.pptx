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5"/>
    <p:restoredTop sz="94719"/>
  </p:normalViewPr>
  <p:slideViewPr>
    <p:cSldViewPr snapToGrid="0" snapToObjects="1">
      <p:cViewPr varScale="1">
        <p:scale>
          <a:sx n="148" d="100"/>
          <a:sy n="148" d="100"/>
        </p:scale>
        <p:origin x="101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A2A7F4-E0F4-EE43-A9C4-458BADE96284}" type="datetimeFigureOut">
              <a:rPr kumimoji="1" lang="ja-JP" altLang="en-US" smtClean="0"/>
              <a:t>2026/4/20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9B337-AE1C-574F-8BCC-C488F6DE3F13}" type="slidenum">
              <a:rPr kumimoji="1" lang="ja-JP" altLang="en-US" smtClean="0"/>
              <a:t>‹#›</a:t>
            </a:fld>
            <a:endParaRPr kumimoji="1" lang="ja-JP" altLang="en-US"/>
          </a:p>
        </p:txBody>
      </p:sp>
    </p:spTree>
    <p:extLst>
      <p:ext uri="{BB962C8B-B14F-4D97-AF65-F5344CB8AC3E}">
        <p14:creationId xmlns:p14="http://schemas.microsoft.com/office/powerpoint/2010/main" val="27989914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solidFill>
                  <a:srgbClr val="202020"/>
                </a:solidFill>
                <a:latin typeface="Hiragino Sans"/>
                <a:cs typeface="Hiragino Sans"/>
              </a:rPr>
              <a:t>まず自分の体感から話すと、Claude CodeでLP生成モジュールを触っていて、構成案を並列で10本作れるようになったのはいいんですが、1本ずつ構成方針や論点を読むのがしんどすぎて、結局ボトルネックは自分側にある、という感覚があります。生成は指数的に速くなっても、人間のレビュー容量は線形にすらスケールしない。</a:t>
            </a:r>
          </a:p>
          <a:p>
            <a:r>
              <a:rPr sz="1100">
                <a:solidFill>
                  <a:srgbClr val="202020"/>
                </a:solidFill>
                <a:latin typeface="Hiragino Sans"/>
                <a:cs typeface="Hiragino Sans"/>
              </a:rPr>
              <a:t>ファクトリーでも同じで、バナー・LP・動画の生成量が増えた結果、社内レビューとクライアントチェックが詰まって案件が止まっている。特にLPは、実際の成果検証までのリードタイムが長い領域なので、今ここで細かく見たことがどれだけ成果に効いたのか、すぐには分からない。だから「運用KPIさえ達成していれば、それ以上は大してやる必要がない」という心理が働きやすい。</a:t>
            </a:r>
          </a:p>
          <a:p>
            <a:r>
              <a:rPr sz="1100">
                <a:solidFill>
                  <a:srgbClr val="202020"/>
                </a:solidFill>
                <a:latin typeface="Hiragino Sans"/>
                <a:cs typeface="Hiragino Sans"/>
              </a:rPr>
              <a:t>つまり、「量が多すぎて見きれない」と「丁寧に見ても効果がすぐ見えないので動機が湧きにくい」が重なって、チェックが後ろ倒しになり、案件進行が滞る。これは個人の怠慢ではなく、生産側だけ加速して検証側のプロセスと動機設計を更新していない構造的問題、というのが今日の出発点で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solidFill>
                  <a:srgbClr val="202020"/>
                </a:solidFill>
                <a:latin typeface="Hiragino Sans"/>
                <a:cs typeface="Hiragino Sans"/>
              </a:rPr>
              <a:t>HITLの定義は、IBMの整理では「自動化システムの意思決定に人間が積極的に関与する仕組み」で、AI文脈では処理フローのどこかに人間の判断点を置くことで、正確性・安全性・説明責任・倫理的判断を担保する設計思想です。</a:t>
            </a:r>
          </a:p>
          <a:p>
            <a:r>
              <a:rPr sz="1100">
                <a:solidFill>
                  <a:srgbClr val="202020"/>
                </a:solidFill>
                <a:latin typeface="Hiragino Sans"/>
                <a:cs typeface="Hiragino Sans"/>
              </a:rPr>
              <a:t>メリットは大きく4つ：誤出力の修正でモデル改善、異常検知、倫理・規範のグレーゾーン判断、判断根拠の記録による監査性。</a:t>
            </a:r>
          </a:p>
          <a:p>
            <a:r>
              <a:rPr sz="1100">
                <a:solidFill>
                  <a:srgbClr val="202020"/>
                </a:solidFill>
                <a:latin typeface="Hiragino Sans"/>
                <a:cs typeface="Hiragino Sans"/>
              </a:rPr>
              <a:t>一方で、HITLには短所もあります。1つ目はスケーラビリティ。全件を人間がチェックすると、AIの速度・量の優位性を自分で潰す。2つ目はコスト。3つ目はバイアスの増幅。4つ目は運用ギャップで、PoCでは綺麗に見えても本番は例外処理の山で人間なしでは動かない。</a:t>
            </a:r>
          </a:p>
          <a:p>
            <a:r>
              <a:rPr sz="1100">
                <a:solidFill>
                  <a:srgbClr val="202020"/>
                </a:solidFill>
                <a:latin typeface="Hiragino Sans"/>
                <a:cs typeface="Hiragino Sans"/>
              </a:rPr>
              <a:t>重要なのは、HITL＝「人間が全部見る」ことではない、ということ。Human-on-the-Loopのような「監視＋例外介入」のグラデーションもあって、どこに・どれだけ人間を噛ませるかの設計こそが本題です。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solidFill>
                  <a:srgbClr val="202020"/>
                </a:solidFill>
                <a:latin typeface="Hiragino Sans"/>
                <a:cs typeface="Hiragino Sans"/>
              </a:rPr>
              <a:t>ここが今日の一番伝えたいパートです。人間のレビュー容量は、どれだけ根性で頑張っても増えない。だから発想を変えて、AIの出力を全部人間が見る、という前提をまず捨てる。そして「どこに・誰が・どの順で・なぜ見るか」を設計し直す、というアプローチを取ります。</a:t>
            </a:r>
          </a:p>
          <a:p>
            <a:r>
              <a:rPr sz="1100">
                <a:solidFill>
                  <a:srgbClr val="202020"/>
                </a:solidFill>
                <a:latin typeface="Hiragino Sans"/>
                <a:cs typeface="Hiragino Sans"/>
              </a:rPr>
              <a:t>5つの軸があります。</a:t>
            </a:r>
          </a:p>
          <a:p>
            <a:r>
              <a:rPr sz="1100">
                <a:solidFill>
                  <a:srgbClr val="202020"/>
                </a:solidFill>
                <a:latin typeface="Hiragino Sans"/>
                <a:cs typeface="Hiragino Sans"/>
              </a:rPr>
              <a:t>1つ目：見る量を減らす。全件レビューをやめて、高リスクや異常値だけに絞る。AIにサマリや論点整理をさせて、人間は差分と要点だけ見る。</a:t>
            </a:r>
          </a:p>
          <a:p>
            <a:r>
              <a:rPr sz="1100">
                <a:solidFill>
                  <a:srgbClr val="202020"/>
                </a:solidFill>
                <a:latin typeface="Hiragino Sans"/>
                <a:cs typeface="Hiragino Sans"/>
              </a:rPr>
              <a:t>2つ目：見る順番を設計する。全部を均等に見るのではなく、取り返しがつかないもの・影響範囲が大きいものから先に見る。</a:t>
            </a:r>
          </a:p>
          <a:p>
            <a:r>
              <a:rPr sz="1100">
                <a:solidFill>
                  <a:srgbClr val="202020"/>
                </a:solidFill>
                <a:latin typeface="Hiragino Sans"/>
                <a:cs typeface="Hiragino Sans"/>
              </a:rPr>
              <a:t>3つ目：見る人を変える。一次レビューはAI自身や別のAIに任せて、人間は例外と最終判断だけ見る。AIがAIをレビューする構造を組み込む。</a:t>
            </a:r>
          </a:p>
          <a:p>
            <a:r>
              <a:rPr sz="1100">
                <a:solidFill>
                  <a:srgbClr val="202020"/>
                </a:solidFill>
                <a:latin typeface="Hiragino Sans"/>
                <a:cs typeface="Hiragino Sans"/>
              </a:rPr>
              <a:t>4つ目：判断と成果をつなげる。LPや運用マーケでは、丁寧に見ても成果がすぐ見えないので、結果が出てから振り返るループを組んで「細かく見たことが効いたのか」を後から確認できるようにする。</a:t>
            </a:r>
          </a:p>
          <a:p>
            <a:r>
              <a:rPr sz="1100">
                <a:solidFill>
                  <a:srgbClr val="202020"/>
                </a:solidFill>
                <a:latin typeface="Hiragino Sans"/>
                <a:cs typeface="Hiragino Sans"/>
              </a:rPr>
              <a:t>5つ目：見え方を変える。差分ハイライト、必須チェックと任意チェックの優先度ラベル、サマリ→詳細の階層化など。ちなみに軸5については、ファクトリーでは既にZiflowが入っていて、差分表示・コメント・バージョン管理・承認フローといった見え方の部分はかなりカバーできています。</a:t>
            </a:r>
          </a:p>
          <a:p>
            <a:r>
              <a:rPr sz="1100">
                <a:solidFill>
                  <a:srgbClr val="202020"/>
                </a:solidFill>
                <a:latin typeface="Hiragino Sans"/>
                <a:cs typeface="Hiragino Sans"/>
              </a:rPr>
              <a:t>まとめると、「認知負荷を減らす」は「AIに全部任せる」ではない。人間が見るべき場所に、人間の注意を集中させる。これが設計の核です。</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solidFill>
                  <a:srgbClr val="202020"/>
                </a:solidFill>
                <a:latin typeface="Hiragino Sans"/>
                <a:cs typeface="Hiragino Sans"/>
              </a:rPr>
              <a:t>考え方だけ話して終わると現場で動かないので、打ち手を絞ります。まず整理しておくと、5軸のうち軸3（AI一次レビュー）は現状モジュールで、軸5（見え方）はZiflowで、それぞれ既にカバーできています。なので今日提案するのは、残りの空白を埋める2つです。</a:t>
            </a:r>
          </a:p>
          <a:p>
            <a:r>
              <a:rPr sz="1100">
                <a:solidFill>
                  <a:srgbClr val="202020"/>
                </a:solidFill>
                <a:latin typeface="Hiragino Sans"/>
                <a:cs typeface="Hiragino Sans"/>
              </a:rPr>
              <a:t>1つ目。LP制作オリエンFMTに、Must項目を埋め込む。薬機法・景表法違反ワード、競合名、NGトーン、コピーの方向性や避けたい訴求パターンを事前に明記しておいて、AIが生成時点で自律的にセルフチェックし、違反があれば自己修正してから提出する。これをやるだけで、人間は「違反ゼロ前提」からレビューに入れるので、Must確認に使っていた注意リソースをNice-to-haveの議論に回せます。</a:t>
            </a:r>
          </a:p>
          <a:p>
            <a:r>
              <a:rPr sz="1100">
                <a:solidFill>
                  <a:srgbClr val="202020"/>
                </a:solidFill>
                <a:latin typeface="Hiragino Sans"/>
                <a:cs typeface="Hiragino Sans"/>
              </a:rPr>
              <a:t>2つ目。配信後のKPIをレビューメモに紐付けて返す。レビュー時の指摘を構造化して記録し、配信2〜4週後に実際のCVR・CTRを同じメモに追記して本人に返す。月次で「どの指摘が効いたか」を振り返ることで、「丁寧に見ることが報われる実感」を作る。</a:t>
            </a:r>
          </a:p>
          <a:p>
            <a:r>
              <a:rPr sz="1100">
                <a:solidFill>
                  <a:srgbClr val="202020"/>
                </a:solidFill>
                <a:latin typeface="Hiragino Sans"/>
                <a:cs typeface="Hiragino Sans"/>
              </a:rPr>
              <a:t>共通しているのは、どちらも「人間の容量を増やす」のではなく、「人間が見る場所を絞る・正しい場所に向ける」打ち手だということです。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dirty="0" err="1">
                <a:solidFill>
                  <a:srgbClr val="202020"/>
                </a:solidFill>
                <a:latin typeface="Hiragino Sans"/>
                <a:cs typeface="Hiragino Sans"/>
              </a:rPr>
              <a:t>最後にまとめます。今日伝えたかった一番のメッセージはこれです</a:t>
            </a:r>
            <a:r>
              <a:rPr sz="1100" dirty="0">
                <a:solidFill>
                  <a:srgbClr val="202020"/>
                </a:solidFill>
                <a:latin typeface="Hiragino Sans"/>
                <a:cs typeface="Hiragino Sans"/>
              </a:rPr>
              <a:t>。「生成を10倍にしただけでは、事業は10倍にならない。検証側の設計が追いついて初めて、グロースは実装される」。</a:t>
            </a:r>
          </a:p>
          <a:p>
            <a:r>
              <a:rPr sz="1100" dirty="0">
                <a:solidFill>
                  <a:srgbClr val="202020"/>
                </a:solidFill>
                <a:latin typeface="Hiragino Sans"/>
                <a:cs typeface="Hiragino Sans"/>
              </a:rPr>
              <a:t>AIで生産側は確実に加速しました。でも、検証側のプロセスを更新せずに放置すると、認知負荷そのものが事業の律速になる。現にファクトリーでも、自分のClaude </a:t>
            </a:r>
            <a:r>
              <a:rPr sz="1100" dirty="0" err="1">
                <a:solidFill>
                  <a:srgbClr val="202020"/>
                </a:solidFill>
                <a:latin typeface="Hiragino Sans"/>
                <a:cs typeface="Hiragino Sans"/>
              </a:rPr>
              <a:t>Code運用でも、それが起きています</a:t>
            </a:r>
            <a:r>
              <a:rPr sz="1100" dirty="0">
                <a:solidFill>
                  <a:srgbClr val="202020"/>
                </a:solidFill>
                <a:latin typeface="Hiragino Sans"/>
                <a:cs typeface="Hiragino Sans"/>
              </a:rPr>
              <a:t>。</a:t>
            </a:r>
          </a:p>
          <a:p>
            <a:r>
              <a:rPr sz="1100" dirty="0" err="1">
                <a:solidFill>
                  <a:srgbClr val="202020"/>
                </a:solidFill>
                <a:latin typeface="Hiragino Sans"/>
                <a:cs typeface="Hiragino Sans"/>
              </a:rPr>
              <a:t>解き方は、人間の容量を増やすことではなく</a:t>
            </a:r>
            <a:r>
              <a:rPr sz="1100" dirty="0">
                <a:solidFill>
                  <a:srgbClr val="202020"/>
                </a:solidFill>
                <a:latin typeface="Hiragino Sans"/>
                <a:cs typeface="Hiragino Sans"/>
              </a:rPr>
              <a:t>、「何を・いつ・誰が・どう見るか」を設計し直すこと。今日はその軸を5つ、そして空白を埋める打ち手を2つ提案しました。</a:t>
            </a:r>
          </a:p>
          <a:p>
            <a:r>
              <a:rPr sz="1100" dirty="0">
                <a:solidFill>
                  <a:srgbClr val="202020"/>
                </a:solidFill>
                <a:latin typeface="Hiragino Sans"/>
                <a:cs typeface="Hiragino Sans"/>
              </a:rPr>
              <a:t>AI時代、人間の役割は「全部見る」から「見るべき場所を決める」に変わる。その決め方の質が、そのまま事業の伸びしろになる、というのが結論です。以上です。</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sp>
        <p:nvSpPr>
          <p:cNvPr id="2" name="Rectangle 1"/>
          <p:cNvSpPr/>
          <p:nvPr/>
        </p:nvSpPr>
        <p:spPr>
          <a:xfrm>
            <a:off x="0" y="2834640"/>
            <a:ext cx="12191695" cy="73152"/>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31520" y="1828800"/>
            <a:ext cx="10515600" cy="45720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ASAKAI / 2026-04-20</a:t>
            </a:r>
          </a:p>
        </p:txBody>
      </p:sp>
      <p:sp>
        <p:nvSpPr>
          <p:cNvPr id="4" name="TextBox 3"/>
          <p:cNvSpPr txBox="1"/>
          <p:nvPr/>
        </p:nvSpPr>
        <p:spPr>
          <a:xfrm>
            <a:off x="731520" y="2331720"/>
            <a:ext cx="10515600" cy="822960"/>
          </a:xfrm>
          <a:prstGeom prst="rect">
            <a:avLst/>
          </a:prstGeom>
          <a:noFill/>
        </p:spPr>
        <p:txBody>
          <a:bodyPr wrap="square" lIns="0" tIns="0" rIns="0" bIns="0" anchor="t">
            <a:spAutoFit/>
          </a:bodyPr>
          <a:lstStyle/>
          <a:p>
            <a:pPr algn="l"/>
            <a:r>
              <a:rPr sz="4000" b="1">
                <a:solidFill>
                  <a:srgbClr val="FFFFFF"/>
                </a:solidFill>
                <a:latin typeface="Hiragino Sans"/>
                <a:cs typeface="Hiragino Sans"/>
              </a:rPr>
              <a:t>AI時代の認知負荷と</a:t>
            </a:r>
          </a:p>
        </p:txBody>
      </p:sp>
      <p:sp>
        <p:nvSpPr>
          <p:cNvPr id="5" name="TextBox 4"/>
          <p:cNvSpPr txBox="1"/>
          <p:nvPr/>
        </p:nvSpPr>
        <p:spPr>
          <a:xfrm>
            <a:off x="731520" y="3063240"/>
            <a:ext cx="10515600" cy="822960"/>
          </a:xfrm>
          <a:prstGeom prst="rect">
            <a:avLst/>
          </a:prstGeom>
          <a:noFill/>
        </p:spPr>
        <p:txBody>
          <a:bodyPr wrap="square" lIns="0" tIns="0" rIns="0" bIns="0" anchor="t">
            <a:spAutoFit/>
          </a:bodyPr>
          <a:lstStyle/>
          <a:p>
            <a:pPr algn="l"/>
            <a:r>
              <a:rPr sz="4000" b="1">
                <a:solidFill>
                  <a:srgbClr val="FFFFFF"/>
                </a:solidFill>
                <a:latin typeface="Hiragino Sans"/>
                <a:cs typeface="Hiragino Sans"/>
              </a:rPr>
              <a:t>適切なHITL設計</a:t>
            </a:r>
          </a:p>
        </p:txBody>
      </p:sp>
      <p:sp>
        <p:nvSpPr>
          <p:cNvPr id="6" name="TextBox 5"/>
          <p:cNvSpPr txBox="1"/>
          <p:nvPr/>
        </p:nvSpPr>
        <p:spPr>
          <a:xfrm>
            <a:off x="731520" y="4114800"/>
            <a:ext cx="10515600" cy="457200"/>
          </a:xfrm>
          <a:prstGeom prst="rect">
            <a:avLst/>
          </a:prstGeom>
          <a:noFill/>
        </p:spPr>
        <p:txBody>
          <a:bodyPr wrap="square" lIns="0" tIns="0" rIns="0" bIns="0" anchor="t">
            <a:spAutoFit/>
          </a:bodyPr>
          <a:lstStyle/>
          <a:p>
            <a:pPr algn="l"/>
            <a:r>
              <a:rPr sz="1800" b="0">
                <a:solidFill>
                  <a:srgbClr val="C0D0E0"/>
                </a:solidFill>
                <a:latin typeface="Hiragino Sans"/>
                <a:cs typeface="Hiragino Sans"/>
              </a:rPr>
              <a:t>生成10倍を、事業10倍にする検証プロセス</a:t>
            </a:r>
          </a:p>
        </p:txBody>
      </p:sp>
      <p:sp>
        <p:nvSpPr>
          <p:cNvPr id="7" name="TextBox 6"/>
          <p:cNvSpPr txBox="1"/>
          <p:nvPr/>
        </p:nvSpPr>
        <p:spPr>
          <a:xfrm>
            <a:off x="731520" y="6126480"/>
            <a:ext cx="10515600" cy="365760"/>
          </a:xfrm>
          <a:prstGeom prst="rect">
            <a:avLst/>
          </a:prstGeom>
          <a:noFill/>
        </p:spPr>
        <p:txBody>
          <a:bodyPr wrap="square" lIns="0" tIns="0" rIns="0" bIns="0" anchor="t">
            <a:spAutoFit/>
          </a:bodyPr>
          <a:lstStyle/>
          <a:p>
            <a:pPr algn="l"/>
            <a:r>
              <a:rPr sz="1200" b="0">
                <a:solidFill>
                  <a:srgbClr val="A0B0C0"/>
                </a:solidFill>
                <a:latin typeface="Hiragino Sans"/>
                <a:cs typeface="Hiragino Sans"/>
              </a:rPr>
              <a:t>d.ichioka@raksul.com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57200" y="137160"/>
            <a:ext cx="1188720" cy="32004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① 現状の課題と背景</a:t>
            </a:r>
          </a:p>
        </p:txBody>
      </p:sp>
      <p:sp>
        <p:nvSpPr>
          <p:cNvPr id="4" name="TextBox 3"/>
          <p:cNvSpPr txBox="1"/>
          <p:nvPr/>
        </p:nvSpPr>
        <p:spPr>
          <a:xfrm>
            <a:off x="1463040" y="411480"/>
            <a:ext cx="10058400" cy="548640"/>
          </a:xfrm>
          <a:prstGeom prst="rect">
            <a:avLst/>
          </a:prstGeom>
          <a:noFill/>
        </p:spPr>
        <p:txBody>
          <a:bodyPr wrap="square" lIns="0" tIns="0" rIns="0" bIns="0" anchor="t">
            <a:spAutoFit/>
          </a:bodyPr>
          <a:lstStyle/>
          <a:p>
            <a:pPr algn="l"/>
            <a:r>
              <a:rPr sz="2200" b="1" dirty="0" err="1">
                <a:solidFill>
                  <a:srgbClr val="FFFFFF"/>
                </a:solidFill>
                <a:latin typeface="Hiragino Sans"/>
                <a:cs typeface="Hiragino Sans"/>
              </a:rPr>
              <a:t>生成は速くなった。でも</a:t>
            </a:r>
            <a:r>
              <a:rPr sz="2200" b="1" dirty="0">
                <a:solidFill>
                  <a:srgbClr val="FFFFFF"/>
                </a:solidFill>
                <a:latin typeface="Hiragino Sans"/>
                <a:cs typeface="Hiragino Sans"/>
              </a:rPr>
              <a:t>、"</a:t>
            </a:r>
            <a:r>
              <a:rPr sz="2200" b="1" dirty="0" err="1">
                <a:solidFill>
                  <a:srgbClr val="FFFFFF"/>
                </a:solidFill>
                <a:latin typeface="Hiragino Sans"/>
                <a:cs typeface="Hiragino Sans"/>
              </a:rPr>
              <a:t>判断する人"の容量は変わっていない</a:t>
            </a:r>
            <a:r>
              <a:rPr sz="2200" b="1" dirty="0">
                <a:solidFill>
                  <a:srgbClr val="FFFFFF"/>
                </a:solidFill>
                <a:latin typeface="Hiragino Sans"/>
                <a:cs typeface="Hiragino Sans"/>
              </a:rPr>
              <a:t>。</a:t>
            </a:r>
          </a:p>
        </p:txBody>
      </p:sp>
      <p:sp>
        <p:nvSpPr>
          <p:cNvPr id="5" name="TextBox 4"/>
          <p:cNvSpPr txBox="1"/>
          <p:nvPr/>
        </p:nvSpPr>
        <p:spPr>
          <a:xfrm>
            <a:off x="9601200" y="137160"/>
            <a:ext cx="2286000" cy="320040"/>
          </a:xfrm>
          <a:prstGeom prst="rect">
            <a:avLst/>
          </a:prstGeom>
          <a:noFill/>
        </p:spPr>
        <p:txBody>
          <a:bodyPr wrap="square" lIns="0" tIns="0" rIns="0" bIns="0" anchor="t">
            <a:spAutoFit/>
          </a:bodyPr>
          <a:lstStyle/>
          <a:p>
            <a:pPr algn="r"/>
            <a:r>
              <a:rPr sz="1100" b="0">
                <a:solidFill>
                  <a:srgbClr val="C0D0E0"/>
                </a:solidFill>
                <a:latin typeface="Hiragino Sans"/>
                <a:cs typeface="Hiragino Sans"/>
              </a:rPr>
              <a:t>2:00</a:t>
            </a:r>
          </a:p>
        </p:txBody>
      </p:sp>
      <p:sp>
        <p:nvSpPr>
          <p:cNvPr id="6" name="Rectangle 5"/>
          <p:cNvSpPr/>
          <p:nvPr/>
        </p:nvSpPr>
        <p:spPr>
          <a:xfrm>
            <a:off x="457200" y="1188720"/>
            <a:ext cx="5577840" cy="2743200"/>
          </a:xfrm>
          <a:prstGeom prst="rect">
            <a:avLst/>
          </a:prstGeom>
          <a:solidFill>
            <a:srgbClr val="F4F6F8"/>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457200" y="1188720"/>
            <a:ext cx="91440" cy="2743200"/>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1325880"/>
            <a:ext cx="5120640" cy="365760"/>
          </a:xfrm>
          <a:prstGeom prst="rect">
            <a:avLst/>
          </a:prstGeom>
          <a:noFill/>
        </p:spPr>
        <p:txBody>
          <a:bodyPr wrap="square" lIns="0" tIns="0" rIns="0" bIns="0" anchor="t">
            <a:spAutoFit/>
          </a:bodyPr>
          <a:lstStyle/>
          <a:p>
            <a:pPr algn="l"/>
            <a:r>
              <a:rPr sz="1600" b="1">
                <a:solidFill>
                  <a:srgbClr val="1F3A5F"/>
                </a:solidFill>
                <a:latin typeface="Hiragino Sans"/>
                <a:cs typeface="Hiragino Sans"/>
              </a:rPr>
              <a:t>A. 自分 × Claude Code での体感</a:t>
            </a:r>
          </a:p>
        </p:txBody>
      </p:sp>
      <p:sp>
        <p:nvSpPr>
          <p:cNvPr id="9" name="TextBox 8"/>
          <p:cNvSpPr txBox="1"/>
          <p:nvPr/>
        </p:nvSpPr>
        <p:spPr>
          <a:xfrm>
            <a:off x="731520" y="1783080"/>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10" name="TextBox 9"/>
          <p:cNvSpPr txBox="1"/>
          <p:nvPr/>
        </p:nvSpPr>
        <p:spPr>
          <a:xfrm>
            <a:off x="960120" y="1783080"/>
            <a:ext cx="4892040" cy="320040"/>
          </a:xfrm>
          <a:prstGeom prst="rect">
            <a:avLst/>
          </a:prstGeom>
          <a:noFill/>
        </p:spPr>
        <p:txBody>
          <a:bodyPr wrap="square" lIns="0" tIns="0" rIns="0" bIns="0" anchor="t">
            <a:spAutoFit/>
          </a:bodyPr>
          <a:lstStyle/>
          <a:p>
            <a:pPr algn="l"/>
            <a:r>
              <a:rPr sz="1400" b="1">
                <a:solidFill>
                  <a:srgbClr val="202020"/>
                </a:solidFill>
                <a:latin typeface="Hiragino Sans"/>
                <a:cs typeface="Hiragino Sans"/>
              </a:rPr>
              <a:t>LP生成モジュールで構成案を並列生成できるように</a:t>
            </a:r>
          </a:p>
        </p:txBody>
      </p:sp>
      <p:sp>
        <p:nvSpPr>
          <p:cNvPr id="11" name="TextBox 10"/>
          <p:cNvSpPr txBox="1"/>
          <p:nvPr/>
        </p:nvSpPr>
        <p:spPr>
          <a:xfrm>
            <a:off x="731520" y="2075688"/>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12" name="TextBox 11"/>
          <p:cNvSpPr txBox="1"/>
          <p:nvPr/>
        </p:nvSpPr>
        <p:spPr>
          <a:xfrm>
            <a:off x="960120" y="2075688"/>
            <a:ext cx="4892040" cy="320040"/>
          </a:xfrm>
          <a:prstGeom prst="rect">
            <a:avLst/>
          </a:prstGeom>
          <a:noFill/>
        </p:spPr>
        <p:txBody>
          <a:bodyPr wrap="square" lIns="0" tIns="0" rIns="0" bIns="0" anchor="t">
            <a:spAutoFit/>
          </a:bodyPr>
          <a:lstStyle/>
          <a:p>
            <a:pPr algn="l"/>
            <a:r>
              <a:rPr sz="1400" b="1">
                <a:solidFill>
                  <a:srgbClr val="202020"/>
                </a:solidFill>
                <a:latin typeface="Hiragino Sans"/>
                <a:cs typeface="Hiragino Sans"/>
              </a:rPr>
              <a:t>1案ごとの構成方針・論点の読み込み工数が重い</a:t>
            </a:r>
          </a:p>
        </p:txBody>
      </p:sp>
      <p:sp>
        <p:nvSpPr>
          <p:cNvPr id="13" name="TextBox 12"/>
          <p:cNvSpPr txBox="1"/>
          <p:nvPr/>
        </p:nvSpPr>
        <p:spPr>
          <a:xfrm>
            <a:off x="1143000" y="2368296"/>
            <a:ext cx="4709160" cy="320040"/>
          </a:xfrm>
          <a:prstGeom prst="rect">
            <a:avLst/>
          </a:prstGeom>
          <a:noFill/>
        </p:spPr>
        <p:txBody>
          <a:bodyPr wrap="square" lIns="0" tIns="0" rIns="0" bIns="0" anchor="t">
            <a:spAutoFit/>
          </a:bodyPr>
          <a:lstStyle/>
          <a:p>
            <a:pPr algn="l"/>
            <a:r>
              <a:rPr sz="1300" b="0">
                <a:solidFill>
                  <a:srgbClr val="6C757D"/>
                </a:solidFill>
                <a:latin typeface="Hiragino Sans"/>
                <a:cs typeface="Hiragino Sans"/>
              </a:rPr>
              <a:t>チェックのフェーズと情報量が多すぎる</a:t>
            </a:r>
          </a:p>
        </p:txBody>
      </p:sp>
      <p:sp>
        <p:nvSpPr>
          <p:cNvPr id="14" name="TextBox 13"/>
          <p:cNvSpPr txBox="1"/>
          <p:nvPr/>
        </p:nvSpPr>
        <p:spPr>
          <a:xfrm>
            <a:off x="731520" y="2642616"/>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15" name="TextBox 14"/>
          <p:cNvSpPr txBox="1"/>
          <p:nvPr/>
        </p:nvSpPr>
        <p:spPr>
          <a:xfrm>
            <a:off x="960120" y="2642616"/>
            <a:ext cx="4892040" cy="320040"/>
          </a:xfrm>
          <a:prstGeom prst="rect">
            <a:avLst/>
          </a:prstGeom>
          <a:noFill/>
        </p:spPr>
        <p:txBody>
          <a:bodyPr wrap="square" lIns="0" tIns="0" rIns="0" bIns="0" anchor="t">
            <a:spAutoFit/>
          </a:bodyPr>
          <a:lstStyle/>
          <a:p>
            <a:pPr algn="l"/>
            <a:r>
              <a:rPr sz="1400" b="1">
                <a:solidFill>
                  <a:srgbClr val="202020"/>
                </a:solidFill>
                <a:latin typeface="Hiragino Sans"/>
                <a:cs typeface="Hiragino Sans"/>
              </a:rPr>
              <a:t>生成は指数的にスケール、レビュー容量は線形にすら伸びない</a:t>
            </a:r>
          </a:p>
        </p:txBody>
      </p:sp>
      <p:sp>
        <p:nvSpPr>
          <p:cNvPr id="16" name="Rectangle 15"/>
          <p:cNvSpPr/>
          <p:nvPr/>
        </p:nvSpPr>
        <p:spPr>
          <a:xfrm>
            <a:off x="6217920" y="1188720"/>
            <a:ext cx="5486400" cy="2743200"/>
          </a:xfrm>
          <a:prstGeom prst="rect">
            <a:avLst/>
          </a:prstGeom>
          <a:solidFill>
            <a:srgbClr val="F4F6F8"/>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17920" y="1188720"/>
            <a:ext cx="91440" cy="2743200"/>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92240" y="1325880"/>
            <a:ext cx="5029200" cy="365760"/>
          </a:xfrm>
          <a:prstGeom prst="rect">
            <a:avLst/>
          </a:prstGeom>
          <a:noFill/>
        </p:spPr>
        <p:txBody>
          <a:bodyPr wrap="square" lIns="0" tIns="0" rIns="0" bIns="0" anchor="t">
            <a:spAutoFit/>
          </a:bodyPr>
          <a:lstStyle/>
          <a:p>
            <a:pPr algn="l"/>
            <a:r>
              <a:rPr sz="1600" b="1">
                <a:solidFill>
                  <a:srgbClr val="1F3A5F"/>
                </a:solidFill>
                <a:latin typeface="Hiragino Sans"/>
                <a:cs typeface="Hiragino Sans"/>
              </a:rPr>
              <a:t>B. ファクトリーでの実態</a:t>
            </a:r>
          </a:p>
        </p:txBody>
      </p:sp>
      <p:sp>
        <p:nvSpPr>
          <p:cNvPr id="19" name="TextBox 18"/>
          <p:cNvSpPr txBox="1"/>
          <p:nvPr/>
        </p:nvSpPr>
        <p:spPr>
          <a:xfrm>
            <a:off x="6492240" y="1783080"/>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20" name="TextBox 19"/>
          <p:cNvSpPr txBox="1"/>
          <p:nvPr/>
        </p:nvSpPr>
        <p:spPr>
          <a:xfrm>
            <a:off x="6720840" y="1783080"/>
            <a:ext cx="4800600" cy="320040"/>
          </a:xfrm>
          <a:prstGeom prst="rect">
            <a:avLst/>
          </a:prstGeom>
          <a:noFill/>
        </p:spPr>
        <p:txBody>
          <a:bodyPr wrap="square" lIns="0" tIns="0" rIns="0" bIns="0" anchor="t">
            <a:spAutoFit/>
          </a:bodyPr>
          <a:lstStyle/>
          <a:p>
            <a:pPr algn="l"/>
            <a:r>
              <a:rPr sz="1400" b="1">
                <a:solidFill>
                  <a:srgbClr val="202020"/>
                </a:solidFill>
                <a:latin typeface="Hiragino Sans"/>
                <a:cs typeface="Hiragino Sans"/>
              </a:rPr>
              <a:t>バナー・LP・動画の生成量が増加</a:t>
            </a:r>
          </a:p>
        </p:txBody>
      </p:sp>
      <p:sp>
        <p:nvSpPr>
          <p:cNvPr id="21" name="TextBox 20"/>
          <p:cNvSpPr txBox="1"/>
          <p:nvPr/>
        </p:nvSpPr>
        <p:spPr>
          <a:xfrm>
            <a:off x="6903720" y="2075688"/>
            <a:ext cx="4617720" cy="320040"/>
          </a:xfrm>
          <a:prstGeom prst="rect">
            <a:avLst/>
          </a:prstGeom>
          <a:noFill/>
        </p:spPr>
        <p:txBody>
          <a:bodyPr wrap="square" lIns="0" tIns="0" rIns="0" bIns="0" anchor="t">
            <a:spAutoFit/>
          </a:bodyPr>
          <a:lstStyle/>
          <a:p>
            <a:pPr algn="l"/>
            <a:r>
              <a:rPr sz="1300" b="0">
                <a:solidFill>
                  <a:srgbClr val="6C757D"/>
                </a:solidFill>
                <a:latin typeface="Hiragino Sans"/>
                <a:cs typeface="Hiragino Sans"/>
              </a:rPr>
              <a:t>社内レビュー＆クライアントチェックで案件滞留</a:t>
            </a:r>
          </a:p>
        </p:txBody>
      </p:sp>
      <p:sp>
        <p:nvSpPr>
          <p:cNvPr id="22" name="TextBox 21"/>
          <p:cNvSpPr txBox="1"/>
          <p:nvPr/>
        </p:nvSpPr>
        <p:spPr>
          <a:xfrm>
            <a:off x="6492240" y="2350008"/>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23" name="TextBox 22"/>
          <p:cNvSpPr txBox="1"/>
          <p:nvPr/>
        </p:nvSpPr>
        <p:spPr>
          <a:xfrm>
            <a:off x="6720840" y="2350008"/>
            <a:ext cx="4800600" cy="320040"/>
          </a:xfrm>
          <a:prstGeom prst="rect">
            <a:avLst/>
          </a:prstGeom>
          <a:noFill/>
        </p:spPr>
        <p:txBody>
          <a:bodyPr wrap="square" lIns="0" tIns="0" rIns="0" bIns="0" anchor="t">
            <a:spAutoFit/>
          </a:bodyPr>
          <a:lstStyle/>
          <a:p>
            <a:pPr algn="l"/>
            <a:r>
              <a:rPr sz="1400" b="1" dirty="0" err="1">
                <a:solidFill>
                  <a:srgbClr val="202020"/>
                </a:solidFill>
                <a:latin typeface="Hiragino Sans"/>
                <a:cs typeface="Hiragino Sans"/>
              </a:rPr>
              <a:t>LPは成果検証までのリードタイムが長い領域</a:t>
            </a:r>
            <a:endParaRPr sz="1400" b="1" dirty="0">
              <a:solidFill>
                <a:srgbClr val="202020"/>
              </a:solidFill>
              <a:latin typeface="Hiragino Sans"/>
              <a:cs typeface="Hiragino Sans"/>
            </a:endParaRPr>
          </a:p>
        </p:txBody>
      </p:sp>
      <p:sp>
        <p:nvSpPr>
          <p:cNvPr id="24" name="TextBox 23"/>
          <p:cNvSpPr txBox="1"/>
          <p:nvPr/>
        </p:nvSpPr>
        <p:spPr>
          <a:xfrm>
            <a:off x="6492240" y="2642616"/>
            <a:ext cx="274320" cy="27432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a:t>
            </a:r>
          </a:p>
        </p:txBody>
      </p:sp>
      <p:sp>
        <p:nvSpPr>
          <p:cNvPr id="25" name="TextBox 24"/>
          <p:cNvSpPr txBox="1"/>
          <p:nvPr/>
        </p:nvSpPr>
        <p:spPr>
          <a:xfrm>
            <a:off x="6720840" y="2642616"/>
            <a:ext cx="4800600" cy="320040"/>
          </a:xfrm>
          <a:prstGeom prst="rect">
            <a:avLst/>
          </a:prstGeom>
          <a:noFill/>
        </p:spPr>
        <p:txBody>
          <a:bodyPr wrap="square" lIns="0" tIns="0" rIns="0" bIns="0" anchor="t">
            <a:spAutoFit/>
          </a:bodyPr>
          <a:lstStyle/>
          <a:p>
            <a:pPr algn="l"/>
            <a:r>
              <a:rPr sz="1400" b="1">
                <a:solidFill>
                  <a:srgbClr val="202020"/>
                </a:solidFill>
                <a:latin typeface="Hiragino Sans"/>
                <a:cs typeface="Hiragino Sans"/>
              </a:rPr>
              <a:t>「運用KPIさえ満たせば十分」の心理が働きやすい</a:t>
            </a:r>
          </a:p>
        </p:txBody>
      </p:sp>
      <p:sp>
        <p:nvSpPr>
          <p:cNvPr id="26" name="TextBox 25"/>
          <p:cNvSpPr txBox="1"/>
          <p:nvPr/>
        </p:nvSpPr>
        <p:spPr>
          <a:xfrm>
            <a:off x="6903720" y="2943850"/>
            <a:ext cx="4617720" cy="320040"/>
          </a:xfrm>
          <a:prstGeom prst="rect">
            <a:avLst/>
          </a:prstGeom>
          <a:noFill/>
        </p:spPr>
        <p:txBody>
          <a:bodyPr wrap="square" lIns="0" tIns="0" rIns="0" bIns="0" anchor="t">
            <a:spAutoFit/>
          </a:bodyPr>
          <a:lstStyle/>
          <a:p>
            <a:pPr algn="l"/>
            <a:r>
              <a:rPr sz="1300" b="0">
                <a:solidFill>
                  <a:srgbClr val="6C757D"/>
                </a:solidFill>
                <a:latin typeface="Hiragino Sans"/>
                <a:cs typeface="Hiragino Sans"/>
              </a:rPr>
              <a:t>細部チェックの優先度が下がる</a:t>
            </a:r>
          </a:p>
        </p:txBody>
      </p:sp>
      <p:sp>
        <p:nvSpPr>
          <p:cNvPr id="27" name="Rectangle 26"/>
          <p:cNvSpPr/>
          <p:nvPr/>
        </p:nvSpPr>
        <p:spPr>
          <a:xfrm>
            <a:off x="457200" y="4160520"/>
            <a:ext cx="11247120" cy="1828800"/>
          </a:xfrm>
          <a:prstGeom prst="rect">
            <a:avLst/>
          </a:prstGeom>
          <a:solidFill>
            <a:srgbClr val="FFF4EA"/>
          </a:solidFill>
          <a:ln w="12700">
            <a:solidFill>
              <a:srgbClr val="E56B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31520" y="4343400"/>
            <a:ext cx="10789920" cy="45720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共通する構造</a:t>
            </a:r>
          </a:p>
        </p:txBody>
      </p:sp>
      <p:sp>
        <p:nvSpPr>
          <p:cNvPr id="29" name="TextBox 28"/>
          <p:cNvSpPr txBox="1"/>
          <p:nvPr/>
        </p:nvSpPr>
        <p:spPr>
          <a:xfrm>
            <a:off x="731520" y="4663440"/>
            <a:ext cx="10789920" cy="548640"/>
          </a:xfrm>
          <a:prstGeom prst="rect">
            <a:avLst/>
          </a:prstGeom>
          <a:noFill/>
        </p:spPr>
        <p:txBody>
          <a:bodyPr wrap="square" lIns="0" tIns="0" rIns="0" bIns="0" anchor="t">
            <a:spAutoFit/>
          </a:bodyPr>
          <a:lstStyle/>
          <a:p>
            <a:pPr algn="l"/>
            <a:r>
              <a:rPr sz="2200" b="1">
                <a:solidFill>
                  <a:srgbClr val="1F3A5F"/>
                </a:solidFill>
                <a:latin typeface="Hiragino Sans"/>
                <a:cs typeface="Hiragino Sans"/>
              </a:rPr>
              <a:t>AIで生産側だけが加速し、検証側のプロセスが置き去りになっている</a:t>
            </a:r>
          </a:p>
        </p:txBody>
      </p:sp>
      <p:sp>
        <p:nvSpPr>
          <p:cNvPr id="30" name="TextBox 29"/>
          <p:cNvSpPr txBox="1"/>
          <p:nvPr/>
        </p:nvSpPr>
        <p:spPr>
          <a:xfrm>
            <a:off x="731520" y="5349240"/>
            <a:ext cx="10789920" cy="548640"/>
          </a:xfrm>
          <a:prstGeom prst="rect">
            <a:avLst/>
          </a:prstGeom>
          <a:noFill/>
        </p:spPr>
        <p:txBody>
          <a:bodyPr wrap="square" lIns="0" tIns="0" rIns="0" bIns="0" anchor="t">
            <a:spAutoFit/>
          </a:bodyPr>
          <a:lstStyle/>
          <a:p>
            <a:pPr algn="l"/>
            <a:r>
              <a:rPr sz="1600" b="0">
                <a:solidFill>
                  <a:srgbClr val="202020"/>
                </a:solidFill>
                <a:latin typeface="Hiragino Sans"/>
                <a:cs typeface="Hiragino Sans"/>
              </a:rPr>
              <a:t>量が多い  ×  見るインセンティブが湧きにくい  →  チェックが後ろ倒しに</a:t>
            </a:r>
          </a:p>
        </p:txBody>
      </p:sp>
      <p:sp>
        <p:nvSpPr>
          <p:cNvPr id="31" name="Rectangle 30"/>
          <p:cNvSpPr/>
          <p:nvPr/>
        </p:nvSpPr>
        <p:spPr>
          <a:xfrm>
            <a:off x="0" y="6583680"/>
            <a:ext cx="12191695" cy="2743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57200" y="6601968"/>
            <a:ext cx="10058400" cy="228600"/>
          </a:xfrm>
          <a:prstGeom prst="rect">
            <a:avLst/>
          </a:prstGeom>
          <a:noFill/>
        </p:spPr>
        <p:txBody>
          <a:bodyPr wrap="square" lIns="0" tIns="0" rIns="0" bIns="0" anchor="t">
            <a:spAutoFit/>
          </a:bodyPr>
          <a:lstStyle/>
          <a:p>
            <a:pPr algn="l"/>
            <a:r>
              <a:rPr sz="1000" b="0">
                <a:solidFill>
                  <a:srgbClr val="6C757D"/>
                </a:solidFill>
                <a:latin typeface="Hiragino Sans"/>
                <a:cs typeface="Hiragino Sans"/>
              </a:rPr>
              <a:t>AI時代の認知負荷と適切なHITL設計</a:t>
            </a:r>
          </a:p>
        </p:txBody>
      </p:sp>
      <p:sp>
        <p:nvSpPr>
          <p:cNvPr id="33" name="TextBox 32"/>
          <p:cNvSpPr txBox="1"/>
          <p:nvPr/>
        </p:nvSpPr>
        <p:spPr>
          <a:xfrm>
            <a:off x="11247120" y="6601968"/>
            <a:ext cx="731520" cy="228600"/>
          </a:xfrm>
          <a:prstGeom prst="rect">
            <a:avLst/>
          </a:prstGeom>
          <a:noFill/>
        </p:spPr>
        <p:txBody>
          <a:bodyPr wrap="square" lIns="0" tIns="0" rIns="0" bIns="0" anchor="t">
            <a:spAutoFit/>
          </a:bodyPr>
          <a:lstStyle/>
          <a:p>
            <a:pPr algn="r"/>
            <a:r>
              <a:rPr sz="1000" b="0">
                <a:solidFill>
                  <a:srgbClr val="6C757D"/>
                </a:solidFill>
                <a:latin typeface="Hiragino Sans"/>
                <a:cs typeface="Hiragino Sans"/>
              </a:rPr>
              <a:t>1 /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57200" y="137160"/>
            <a:ext cx="1188720" cy="32004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② そもそもHITLとは</a:t>
            </a:r>
          </a:p>
        </p:txBody>
      </p:sp>
      <p:sp>
        <p:nvSpPr>
          <p:cNvPr id="4" name="TextBox 3"/>
          <p:cNvSpPr txBox="1"/>
          <p:nvPr/>
        </p:nvSpPr>
        <p:spPr>
          <a:xfrm>
            <a:off x="1554480" y="411480"/>
            <a:ext cx="10058400" cy="548640"/>
          </a:xfrm>
          <a:prstGeom prst="rect">
            <a:avLst/>
          </a:prstGeom>
          <a:noFill/>
        </p:spPr>
        <p:txBody>
          <a:bodyPr wrap="square" lIns="0" tIns="0" rIns="0" bIns="0" anchor="t">
            <a:spAutoFit/>
          </a:bodyPr>
          <a:lstStyle/>
          <a:p>
            <a:pPr algn="l"/>
            <a:r>
              <a:rPr sz="2200" b="1">
                <a:solidFill>
                  <a:srgbClr val="FFFFFF"/>
                </a:solidFill>
                <a:latin typeface="Hiragino Sans"/>
                <a:cs typeface="Hiragino Sans"/>
              </a:rPr>
              <a:t>HITL＝AIのループの"どこかに"人間の判断を差し込む設計</a:t>
            </a:r>
          </a:p>
        </p:txBody>
      </p:sp>
      <p:sp>
        <p:nvSpPr>
          <p:cNvPr id="5" name="TextBox 4"/>
          <p:cNvSpPr txBox="1"/>
          <p:nvPr/>
        </p:nvSpPr>
        <p:spPr>
          <a:xfrm>
            <a:off x="9601200" y="137160"/>
            <a:ext cx="2286000" cy="320040"/>
          </a:xfrm>
          <a:prstGeom prst="rect">
            <a:avLst/>
          </a:prstGeom>
          <a:noFill/>
        </p:spPr>
        <p:txBody>
          <a:bodyPr wrap="square" lIns="0" tIns="0" rIns="0" bIns="0" anchor="t">
            <a:spAutoFit/>
          </a:bodyPr>
          <a:lstStyle/>
          <a:p>
            <a:pPr algn="r"/>
            <a:r>
              <a:rPr sz="1100" b="0">
                <a:solidFill>
                  <a:srgbClr val="C0D0E0"/>
                </a:solidFill>
                <a:latin typeface="Hiragino Sans"/>
                <a:cs typeface="Hiragino Sans"/>
              </a:rPr>
              <a:t>1:30</a:t>
            </a:r>
          </a:p>
        </p:txBody>
      </p:sp>
      <p:sp>
        <p:nvSpPr>
          <p:cNvPr id="6" name="Rectangle 5"/>
          <p:cNvSpPr/>
          <p:nvPr/>
        </p:nvSpPr>
        <p:spPr>
          <a:xfrm>
            <a:off x="457200" y="1188720"/>
            <a:ext cx="11247120" cy="914400"/>
          </a:xfrm>
          <a:prstGeom prst="rect">
            <a:avLst/>
          </a:prstGeom>
          <a:solidFill>
            <a:srgbClr val="F4F6F8"/>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280160"/>
            <a:ext cx="1828800" cy="274320"/>
          </a:xfrm>
          <a:prstGeom prst="rect">
            <a:avLst/>
          </a:prstGeom>
          <a:noFill/>
        </p:spPr>
        <p:txBody>
          <a:bodyPr wrap="square" lIns="0" tIns="0" rIns="0" bIns="0" anchor="t">
            <a:spAutoFit/>
          </a:bodyPr>
          <a:lstStyle/>
          <a:p>
            <a:pPr algn="l"/>
            <a:r>
              <a:rPr sz="1200" b="1">
                <a:solidFill>
                  <a:srgbClr val="E56B2B"/>
                </a:solidFill>
                <a:latin typeface="Hiragino Sans"/>
                <a:cs typeface="Hiragino Sans"/>
              </a:rPr>
              <a:t>定義（IBM）</a:t>
            </a:r>
          </a:p>
        </p:txBody>
      </p:sp>
      <p:sp>
        <p:nvSpPr>
          <p:cNvPr id="8" name="TextBox 7"/>
          <p:cNvSpPr txBox="1"/>
          <p:nvPr/>
        </p:nvSpPr>
        <p:spPr>
          <a:xfrm>
            <a:off x="685800" y="1554480"/>
            <a:ext cx="10789920" cy="457200"/>
          </a:xfrm>
          <a:prstGeom prst="rect">
            <a:avLst/>
          </a:prstGeom>
          <a:noFill/>
        </p:spPr>
        <p:txBody>
          <a:bodyPr wrap="square" lIns="0" tIns="0" rIns="0" bIns="0" anchor="t">
            <a:spAutoFit/>
          </a:bodyPr>
          <a:lstStyle/>
          <a:p>
            <a:pPr algn="l"/>
            <a:r>
              <a:rPr sz="1400" b="0">
                <a:solidFill>
                  <a:srgbClr val="202020"/>
                </a:solidFill>
                <a:latin typeface="Hiragino Sans"/>
                <a:cs typeface="Hiragino Sans"/>
              </a:rPr>
              <a:t>自動化システムの運用・監督・意思決定に人間が積極的に関与し、</a:t>
            </a:r>
          </a:p>
        </p:txBody>
      </p:sp>
      <p:sp>
        <p:nvSpPr>
          <p:cNvPr id="9" name="TextBox 8"/>
          <p:cNvSpPr txBox="1"/>
          <p:nvPr/>
        </p:nvSpPr>
        <p:spPr>
          <a:xfrm>
            <a:off x="685800" y="1783080"/>
            <a:ext cx="10789920" cy="457200"/>
          </a:xfrm>
          <a:prstGeom prst="rect">
            <a:avLst/>
          </a:prstGeom>
          <a:noFill/>
        </p:spPr>
        <p:txBody>
          <a:bodyPr wrap="square" lIns="0" tIns="0" rIns="0" bIns="0" anchor="t">
            <a:spAutoFit/>
          </a:bodyPr>
          <a:lstStyle/>
          <a:p>
            <a:pPr algn="l"/>
            <a:r>
              <a:rPr sz="1400" b="0">
                <a:solidFill>
                  <a:srgbClr val="202020"/>
                </a:solidFill>
                <a:latin typeface="Hiragino Sans"/>
                <a:cs typeface="Hiragino Sans"/>
              </a:rPr>
              <a:t>正確性・安全性・説明責任・倫理的判断を担保する仕組み</a:t>
            </a:r>
          </a:p>
        </p:txBody>
      </p:sp>
      <p:sp>
        <p:nvSpPr>
          <p:cNvPr id="10" name="TextBox 9"/>
          <p:cNvSpPr txBox="1"/>
          <p:nvPr/>
        </p:nvSpPr>
        <p:spPr>
          <a:xfrm>
            <a:off x="457200" y="2286000"/>
            <a:ext cx="5486400" cy="365760"/>
          </a:xfrm>
          <a:prstGeom prst="rect">
            <a:avLst/>
          </a:prstGeom>
          <a:noFill/>
        </p:spPr>
        <p:txBody>
          <a:bodyPr wrap="square" lIns="0" tIns="0" rIns="0" bIns="0" anchor="t">
            <a:spAutoFit/>
          </a:bodyPr>
          <a:lstStyle/>
          <a:p>
            <a:pPr algn="l"/>
            <a:r>
              <a:rPr sz="1400" b="1">
                <a:solidFill>
                  <a:srgbClr val="2E7D32"/>
                </a:solidFill>
                <a:latin typeface="Hiragino Sans"/>
                <a:cs typeface="Hiragino Sans"/>
              </a:rPr>
              <a:t>長所：HITLが果たす4つの役割</a:t>
            </a:r>
          </a:p>
        </p:txBody>
      </p:sp>
      <p:sp>
        <p:nvSpPr>
          <p:cNvPr id="11" name="Rectangle 10"/>
          <p:cNvSpPr/>
          <p:nvPr/>
        </p:nvSpPr>
        <p:spPr>
          <a:xfrm>
            <a:off x="457200" y="2651760"/>
            <a:ext cx="1645920" cy="411480"/>
          </a:xfrm>
          <a:prstGeom prst="rect">
            <a:avLst/>
          </a:prstGeom>
          <a:solidFill>
            <a:srgbClr val="2E7D3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2697480"/>
            <a:ext cx="1463040" cy="320040"/>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役割</a:t>
            </a:r>
          </a:p>
        </p:txBody>
      </p:sp>
      <p:sp>
        <p:nvSpPr>
          <p:cNvPr id="13" name="Rectangle 12"/>
          <p:cNvSpPr/>
          <p:nvPr/>
        </p:nvSpPr>
        <p:spPr>
          <a:xfrm>
            <a:off x="2103120" y="2651760"/>
            <a:ext cx="3931920" cy="411480"/>
          </a:xfrm>
          <a:prstGeom prst="rect">
            <a:avLst/>
          </a:prstGeom>
          <a:solidFill>
            <a:srgbClr val="2E7D32"/>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194560" y="2697480"/>
            <a:ext cx="3749040" cy="320040"/>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中身</a:t>
            </a:r>
          </a:p>
        </p:txBody>
      </p:sp>
      <p:sp>
        <p:nvSpPr>
          <p:cNvPr id="15" name="Rectangle 14"/>
          <p:cNvSpPr/>
          <p:nvPr/>
        </p:nvSpPr>
        <p:spPr>
          <a:xfrm>
            <a:off x="457200" y="3063240"/>
            <a:ext cx="1645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48640" y="3108960"/>
            <a:ext cx="1463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モデル改善</a:t>
            </a:r>
          </a:p>
        </p:txBody>
      </p:sp>
      <p:sp>
        <p:nvSpPr>
          <p:cNvPr id="17" name="Rectangle 16"/>
          <p:cNvSpPr/>
          <p:nvPr/>
        </p:nvSpPr>
        <p:spPr>
          <a:xfrm>
            <a:off x="2103120" y="3063240"/>
            <a:ext cx="3931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194560" y="3108960"/>
            <a:ext cx="3749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誤出力を人間が修正 → AIが学習</a:t>
            </a:r>
          </a:p>
        </p:txBody>
      </p:sp>
      <p:sp>
        <p:nvSpPr>
          <p:cNvPr id="19" name="Rectangle 18"/>
          <p:cNvSpPr/>
          <p:nvPr/>
        </p:nvSpPr>
        <p:spPr>
          <a:xfrm>
            <a:off x="457200" y="3474720"/>
            <a:ext cx="1645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3520440"/>
            <a:ext cx="1463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異常検知</a:t>
            </a:r>
          </a:p>
        </p:txBody>
      </p:sp>
      <p:sp>
        <p:nvSpPr>
          <p:cNvPr id="21" name="Rectangle 20"/>
          <p:cNvSpPr/>
          <p:nvPr/>
        </p:nvSpPr>
        <p:spPr>
          <a:xfrm>
            <a:off x="2103120" y="3474720"/>
            <a:ext cx="3931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94560" y="3520440"/>
            <a:ext cx="3749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専門知でAIの見落としを発見</a:t>
            </a:r>
          </a:p>
        </p:txBody>
      </p:sp>
      <p:sp>
        <p:nvSpPr>
          <p:cNvPr id="23" name="Rectangle 22"/>
          <p:cNvSpPr/>
          <p:nvPr/>
        </p:nvSpPr>
        <p:spPr>
          <a:xfrm>
            <a:off x="457200" y="3886200"/>
            <a:ext cx="1645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48640" y="3931920"/>
            <a:ext cx="1463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倫理的判断</a:t>
            </a:r>
          </a:p>
        </p:txBody>
      </p:sp>
      <p:sp>
        <p:nvSpPr>
          <p:cNvPr id="25" name="Rectangle 24"/>
          <p:cNvSpPr/>
          <p:nvPr/>
        </p:nvSpPr>
        <p:spPr>
          <a:xfrm>
            <a:off x="2103120" y="3886200"/>
            <a:ext cx="3931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194560" y="3931920"/>
            <a:ext cx="3749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規範・グレーゾーンを人間が担う</a:t>
            </a:r>
          </a:p>
        </p:txBody>
      </p:sp>
      <p:sp>
        <p:nvSpPr>
          <p:cNvPr id="27" name="Rectangle 26"/>
          <p:cNvSpPr/>
          <p:nvPr/>
        </p:nvSpPr>
        <p:spPr>
          <a:xfrm>
            <a:off x="457200" y="4297680"/>
            <a:ext cx="1645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48640" y="4343400"/>
            <a:ext cx="1463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透明性・監査</a:t>
            </a:r>
          </a:p>
        </p:txBody>
      </p:sp>
      <p:sp>
        <p:nvSpPr>
          <p:cNvPr id="29" name="Rectangle 28"/>
          <p:cNvSpPr/>
          <p:nvPr/>
        </p:nvSpPr>
        <p:spPr>
          <a:xfrm>
            <a:off x="2103120" y="4297680"/>
            <a:ext cx="3931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2194560" y="4343400"/>
            <a:ext cx="3749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判断・上書き理由が記録される</a:t>
            </a:r>
          </a:p>
        </p:txBody>
      </p:sp>
      <p:sp>
        <p:nvSpPr>
          <p:cNvPr id="31" name="TextBox 30"/>
          <p:cNvSpPr txBox="1"/>
          <p:nvPr/>
        </p:nvSpPr>
        <p:spPr>
          <a:xfrm>
            <a:off x="6217920" y="2286000"/>
            <a:ext cx="5486400" cy="215444"/>
          </a:xfrm>
          <a:prstGeom prst="rect">
            <a:avLst/>
          </a:prstGeom>
          <a:noFill/>
        </p:spPr>
        <p:txBody>
          <a:bodyPr wrap="square" lIns="0" tIns="0" rIns="0" bIns="0" anchor="t">
            <a:spAutoFit/>
          </a:bodyPr>
          <a:lstStyle/>
          <a:p>
            <a:pPr algn="l"/>
            <a:r>
              <a:rPr sz="1400" b="1" dirty="0" err="1">
                <a:solidFill>
                  <a:srgbClr val="C62828"/>
                </a:solidFill>
                <a:latin typeface="Hiragino Sans"/>
                <a:cs typeface="Hiragino Sans"/>
              </a:rPr>
              <a:t>短所</a:t>
            </a:r>
            <a:r>
              <a:rPr sz="1400" b="1" dirty="0">
                <a:solidFill>
                  <a:srgbClr val="C62828"/>
                </a:solidFill>
                <a:latin typeface="Hiragino Sans"/>
                <a:cs typeface="Hiragino Sans"/>
              </a:rPr>
              <a:t>：</a:t>
            </a:r>
          </a:p>
        </p:txBody>
      </p:sp>
      <p:sp>
        <p:nvSpPr>
          <p:cNvPr id="32" name="Rectangle 31"/>
          <p:cNvSpPr/>
          <p:nvPr/>
        </p:nvSpPr>
        <p:spPr>
          <a:xfrm>
            <a:off x="6217920" y="2651760"/>
            <a:ext cx="1645920" cy="411480"/>
          </a:xfrm>
          <a:prstGeom prst="rect">
            <a:avLst/>
          </a:prstGeom>
          <a:solidFill>
            <a:srgbClr val="C6282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309360" y="2697480"/>
            <a:ext cx="1463040" cy="320040"/>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課題</a:t>
            </a:r>
          </a:p>
        </p:txBody>
      </p:sp>
      <p:sp>
        <p:nvSpPr>
          <p:cNvPr id="34" name="Rectangle 33"/>
          <p:cNvSpPr/>
          <p:nvPr/>
        </p:nvSpPr>
        <p:spPr>
          <a:xfrm>
            <a:off x="7863840" y="2651760"/>
            <a:ext cx="3840480" cy="411480"/>
          </a:xfrm>
          <a:prstGeom prst="rect">
            <a:avLst/>
          </a:prstGeom>
          <a:solidFill>
            <a:srgbClr val="C6282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955280" y="2697480"/>
            <a:ext cx="3657600" cy="320040"/>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中身</a:t>
            </a:r>
          </a:p>
        </p:txBody>
      </p:sp>
      <p:sp>
        <p:nvSpPr>
          <p:cNvPr id="36" name="Rectangle 35"/>
          <p:cNvSpPr/>
          <p:nvPr/>
        </p:nvSpPr>
        <p:spPr>
          <a:xfrm>
            <a:off x="6217920" y="3063240"/>
            <a:ext cx="1645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09360" y="3108960"/>
            <a:ext cx="1463040" cy="320040"/>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スケーラビリティ</a:t>
            </a:r>
            <a:endParaRPr sz="1200" b="0" dirty="0">
              <a:solidFill>
                <a:srgbClr val="202020"/>
              </a:solidFill>
              <a:latin typeface="Hiragino Sans"/>
              <a:cs typeface="Hiragino Sans"/>
            </a:endParaRPr>
          </a:p>
        </p:txBody>
      </p:sp>
      <p:sp>
        <p:nvSpPr>
          <p:cNvPr id="38" name="Rectangle 37"/>
          <p:cNvSpPr/>
          <p:nvPr/>
        </p:nvSpPr>
        <p:spPr>
          <a:xfrm>
            <a:off x="7863840" y="3063240"/>
            <a:ext cx="384048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955280" y="3108960"/>
            <a:ext cx="365760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全件レビューでAIの優位性を潰す</a:t>
            </a:r>
          </a:p>
        </p:txBody>
      </p:sp>
      <p:sp>
        <p:nvSpPr>
          <p:cNvPr id="40" name="Rectangle 39"/>
          <p:cNvSpPr/>
          <p:nvPr/>
        </p:nvSpPr>
        <p:spPr>
          <a:xfrm>
            <a:off x="6217920" y="3474720"/>
            <a:ext cx="1645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309360" y="3520440"/>
            <a:ext cx="1463040" cy="320040"/>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コスト</a:t>
            </a:r>
            <a:endParaRPr sz="1200" b="0" dirty="0">
              <a:solidFill>
                <a:srgbClr val="202020"/>
              </a:solidFill>
              <a:latin typeface="Hiragino Sans"/>
              <a:cs typeface="Hiragino Sans"/>
            </a:endParaRPr>
          </a:p>
        </p:txBody>
      </p:sp>
      <p:sp>
        <p:nvSpPr>
          <p:cNvPr id="42" name="Rectangle 41"/>
          <p:cNvSpPr/>
          <p:nvPr/>
        </p:nvSpPr>
        <p:spPr>
          <a:xfrm>
            <a:off x="7863840" y="3474720"/>
            <a:ext cx="384048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955280" y="3520440"/>
            <a:ext cx="3657600" cy="320040"/>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人件費・工数。人を増やさないと回らない</a:t>
            </a:r>
            <a:endParaRPr sz="1200" b="0" dirty="0">
              <a:solidFill>
                <a:srgbClr val="202020"/>
              </a:solidFill>
              <a:latin typeface="Hiragino Sans"/>
              <a:cs typeface="Hiragino Sans"/>
            </a:endParaRPr>
          </a:p>
        </p:txBody>
      </p:sp>
      <p:sp>
        <p:nvSpPr>
          <p:cNvPr id="44" name="Rectangle 43"/>
          <p:cNvSpPr/>
          <p:nvPr/>
        </p:nvSpPr>
        <p:spPr>
          <a:xfrm>
            <a:off x="6217920" y="3886200"/>
            <a:ext cx="164592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309360" y="3931920"/>
            <a:ext cx="146304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バイアス</a:t>
            </a:r>
          </a:p>
        </p:txBody>
      </p:sp>
      <p:sp>
        <p:nvSpPr>
          <p:cNvPr id="46" name="Rectangle 45"/>
          <p:cNvSpPr/>
          <p:nvPr/>
        </p:nvSpPr>
        <p:spPr>
          <a:xfrm>
            <a:off x="7863840" y="3886200"/>
            <a:ext cx="3840480" cy="411480"/>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7955280" y="3931920"/>
            <a:ext cx="3657600" cy="320040"/>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人間の偏りをAIが学習・増幅</a:t>
            </a:r>
          </a:p>
        </p:txBody>
      </p:sp>
      <p:sp>
        <p:nvSpPr>
          <p:cNvPr id="48" name="Rectangle 47"/>
          <p:cNvSpPr/>
          <p:nvPr/>
        </p:nvSpPr>
        <p:spPr>
          <a:xfrm>
            <a:off x="6217920" y="4297680"/>
            <a:ext cx="164592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309360" y="4343400"/>
            <a:ext cx="1463040" cy="320040"/>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運用ギャップ</a:t>
            </a:r>
            <a:endParaRPr sz="1200" b="0" dirty="0">
              <a:solidFill>
                <a:srgbClr val="202020"/>
              </a:solidFill>
              <a:latin typeface="Hiragino Sans"/>
              <a:cs typeface="Hiragino Sans"/>
            </a:endParaRPr>
          </a:p>
        </p:txBody>
      </p:sp>
      <p:sp>
        <p:nvSpPr>
          <p:cNvPr id="50" name="Rectangle 49"/>
          <p:cNvSpPr/>
          <p:nvPr/>
        </p:nvSpPr>
        <p:spPr>
          <a:xfrm>
            <a:off x="7863840" y="4297680"/>
            <a:ext cx="3840480" cy="411480"/>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955280" y="4343400"/>
            <a:ext cx="3657600" cy="320040"/>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本番では例外処理で人間依存が残る</a:t>
            </a:r>
            <a:endParaRPr sz="1200" b="0" dirty="0">
              <a:solidFill>
                <a:srgbClr val="202020"/>
              </a:solidFill>
              <a:latin typeface="Hiragino Sans"/>
              <a:cs typeface="Hiragino Sans"/>
            </a:endParaRPr>
          </a:p>
        </p:txBody>
      </p:sp>
      <p:sp>
        <p:nvSpPr>
          <p:cNvPr id="52" name="Rectangle 51"/>
          <p:cNvSpPr/>
          <p:nvPr/>
        </p:nvSpPr>
        <p:spPr>
          <a:xfrm>
            <a:off x="457200" y="5029200"/>
            <a:ext cx="11247120" cy="1188720"/>
          </a:xfrm>
          <a:prstGeom prst="rect">
            <a:avLst/>
          </a:prstGeom>
          <a:solidFill>
            <a:srgbClr val="F4F6F8"/>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685800" y="5120640"/>
            <a:ext cx="10789920" cy="320040"/>
          </a:xfrm>
          <a:prstGeom prst="rect">
            <a:avLst/>
          </a:prstGeom>
          <a:noFill/>
        </p:spPr>
        <p:txBody>
          <a:bodyPr wrap="square" lIns="0" tIns="0" rIns="0" bIns="0" anchor="t">
            <a:spAutoFit/>
          </a:bodyPr>
          <a:lstStyle/>
          <a:p>
            <a:pPr algn="l"/>
            <a:r>
              <a:rPr sz="1200" b="1">
                <a:solidFill>
                  <a:srgbClr val="E56B2B"/>
                </a:solidFill>
                <a:latin typeface="Hiragino Sans"/>
                <a:cs typeface="Hiragino Sans"/>
              </a:rPr>
              <a:t>近接概念（グラデーション）</a:t>
            </a:r>
          </a:p>
        </p:txBody>
      </p:sp>
      <p:sp>
        <p:nvSpPr>
          <p:cNvPr id="54" name="TextBox 53"/>
          <p:cNvSpPr txBox="1"/>
          <p:nvPr/>
        </p:nvSpPr>
        <p:spPr>
          <a:xfrm>
            <a:off x="685800" y="5440680"/>
            <a:ext cx="3657600" cy="365760"/>
          </a:xfrm>
          <a:prstGeom prst="rect">
            <a:avLst/>
          </a:prstGeom>
          <a:noFill/>
        </p:spPr>
        <p:txBody>
          <a:bodyPr wrap="square" lIns="0" tIns="0" rIns="0" bIns="0" anchor="t">
            <a:spAutoFit/>
          </a:bodyPr>
          <a:lstStyle/>
          <a:p>
            <a:pPr algn="l"/>
            <a:r>
              <a:rPr sz="1300" b="1">
                <a:solidFill>
                  <a:srgbClr val="1F3A5F"/>
                </a:solidFill>
                <a:latin typeface="Hiragino Sans"/>
                <a:cs typeface="Hiragino Sans"/>
              </a:rPr>
              <a:t>Human-in-the-Loop</a:t>
            </a:r>
          </a:p>
        </p:txBody>
      </p:sp>
      <p:sp>
        <p:nvSpPr>
          <p:cNvPr id="55" name="TextBox 54"/>
          <p:cNvSpPr txBox="1"/>
          <p:nvPr/>
        </p:nvSpPr>
        <p:spPr>
          <a:xfrm>
            <a:off x="685800" y="5760720"/>
            <a:ext cx="3657600" cy="365760"/>
          </a:xfrm>
          <a:prstGeom prst="rect">
            <a:avLst/>
          </a:prstGeom>
          <a:noFill/>
        </p:spPr>
        <p:txBody>
          <a:bodyPr wrap="square" lIns="0" tIns="0" rIns="0" bIns="0" anchor="t">
            <a:spAutoFit/>
          </a:bodyPr>
          <a:lstStyle/>
          <a:p>
            <a:pPr algn="l"/>
            <a:r>
              <a:rPr sz="1200" b="0">
                <a:solidFill>
                  <a:srgbClr val="6C757D"/>
                </a:solidFill>
                <a:latin typeface="Hiragino Sans"/>
                <a:cs typeface="Hiragino Sans"/>
              </a:rPr>
              <a:t>常時、人間が関与</a:t>
            </a:r>
          </a:p>
        </p:txBody>
      </p:sp>
      <p:sp>
        <p:nvSpPr>
          <p:cNvPr id="56" name="TextBox 55"/>
          <p:cNvSpPr txBox="1"/>
          <p:nvPr/>
        </p:nvSpPr>
        <p:spPr>
          <a:xfrm>
            <a:off x="4389120" y="5440680"/>
            <a:ext cx="3657600" cy="365760"/>
          </a:xfrm>
          <a:prstGeom prst="rect">
            <a:avLst/>
          </a:prstGeom>
          <a:noFill/>
        </p:spPr>
        <p:txBody>
          <a:bodyPr wrap="square" lIns="0" tIns="0" rIns="0" bIns="0" anchor="t">
            <a:spAutoFit/>
          </a:bodyPr>
          <a:lstStyle/>
          <a:p>
            <a:pPr algn="l"/>
            <a:r>
              <a:rPr sz="1300" b="1">
                <a:solidFill>
                  <a:srgbClr val="1F3A5F"/>
                </a:solidFill>
                <a:latin typeface="Hiragino Sans"/>
                <a:cs typeface="Hiragino Sans"/>
              </a:rPr>
              <a:t>Human-on-the-Loop</a:t>
            </a:r>
          </a:p>
        </p:txBody>
      </p:sp>
      <p:sp>
        <p:nvSpPr>
          <p:cNvPr id="57" name="TextBox 56"/>
          <p:cNvSpPr txBox="1"/>
          <p:nvPr/>
        </p:nvSpPr>
        <p:spPr>
          <a:xfrm>
            <a:off x="4389120" y="5760720"/>
            <a:ext cx="3657600" cy="365760"/>
          </a:xfrm>
          <a:prstGeom prst="rect">
            <a:avLst/>
          </a:prstGeom>
          <a:noFill/>
        </p:spPr>
        <p:txBody>
          <a:bodyPr wrap="square" lIns="0" tIns="0" rIns="0" bIns="0" anchor="t">
            <a:spAutoFit/>
          </a:bodyPr>
          <a:lstStyle/>
          <a:p>
            <a:pPr algn="l"/>
            <a:r>
              <a:rPr sz="1200" b="0">
                <a:solidFill>
                  <a:srgbClr val="6C757D"/>
                </a:solidFill>
                <a:latin typeface="Hiragino Sans"/>
                <a:cs typeface="Hiragino Sans"/>
              </a:rPr>
              <a:t>監視役、例外時のみ介入</a:t>
            </a:r>
          </a:p>
        </p:txBody>
      </p:sp>
      <p:sp>
        <p:nvSpPr>
          <p:cNvPr id="58" name="TextBox 57"/>
          <p:cNvSpPr txBox="1"/>
          <p:nvPr/>
        </p:nvSpPr>
        <p:spPr>
          <a:xfrm>
            <a:off x="8092440" y="5440680"/>
            <a:ext cx="3657600" cy="365760"/>
          </a:xfrm>
          <a:prstGeom prst="rect">
            <a:avLst/>
          </a:prstGeom>
          <a:noFill/>
        </p:spPr>
        <p:txBody>
          <a:bodyPr wrap="square" lIns="0" tIns="0" rIns="0" bIns="0" anchor="t">
            <a:spAutoFit/>
          </a:bodyPr>
          <a:lstStyle/>
          <a:p>
            <a:pPr algn="l"/>
            <a:r>
              <a:rPr sz="1300" b="1">
                <a:solidFill>
                  <a:srgbClr val="1F3A5F"/>
                </a:solidFill>
                <a:latin typeface="Hiragino Sans"/>
                <a:cs typeface="Hiragino Sans"/>
              </a:rPr>
              <a:t>Human-out-of-the-Loop</a:t>
            </a:r>
          </a:p>
        </p:txBody>
      </p:sp>
      <p:sp>
        <p:nvSpPr>
          <p:cNvPr id="59" name="TextBox 58"/>
          <p:cNvSpPr txBox="1"/>
          <p:nvPr/>
        </p:nvSpPr>
        <p:spPr>
          <a:xfrm>
            <a:off x="8092440" y="5760720"/>
            <a:ext cx="3657600" cy="365760"/>
          </a:xfrm>
          <a:prstGeom prst="rect">
            <a:avLst/>
          </a:prstGeom>
          <a:noFill/>
        </p:spPr>
        <p:txBody>
          <a:bodyPr wrap="square" lIns="0" tIns="0" rIns="0" bIns="0" anchor="t">
            <a:spAutoFit/>
          </a:bodyPr>
          <a:lstStyle/>
          <a:p>
            <a:pPr algn="l"/>
            <a:r>
              <a:rPr sz="1200" b="0">
                <a:solidFill>
                  <a:srgbClr val="6C757D"/>
                </a:solidFill>
                <a:latin typeface="Hiragino Sans"/>
                <a:cs typeface="Hiragino Sans"/>
              </a:rPr>
              <a:t>完全自動、人間は関与しない</a:t>
            </a:r>
          </a:p>
        </p:txBody>
      </p:sp>
      <p:sp>
        <p:nvSpPr>
          <p:cNvPr id="60" name="Rectangle 59"/>
          <p:cNvSpPr/>
          <p:nvPr/>
        </p:nvSpPr>
        <p:spPr>
          <a:xfrm>
            <a:off x="0" y="6583680"/>
            <a:ext cx="12191695" cy="2743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457200" y="6601968"/>
            <a:ext cx="10058400" cy="228600"/>
          </a:xfrm>
          <a:prstGeom prst="rect">
            <a:avLst/>
          </a:prstGeom>
          <a:noFill/>
        </p:spPr>
        <p:txBody>
          <a:bodyPr wrap="square" lIns="0" tIns="0" rIns="0" bIns="0" anchor="t">
            <a:spAutoFit/>
          </a:bodyPr>
          <a:lstStyle/>
          <a:p>
            <a:pPr algn="l"/>
            <a:r>
              <a:rPr sz="1000" b="0">
                <a:solidFill>
                  <a:srgbClr val="6C757D"/>
                </a:solidFill>
                <a:latin typeface="Hiragino Sans"/>
                <a:cs typeface="Hiragino Sans"/>
              </a:rPr>
              <a:t>AI時代の認知負荷と適切なHITL設計</a:t>
            </a:r>
          </a:p>
        </p:txBody>
      </p:sp>
      <p:sp>
        <p:nvSpPr>
          <p:cNvPr id="62" name="TextBox 61"/>
          <p:cNvSpPr txBox="1"/>
          <p:nvPr/>
        </p:nvSpPr>
        <p:spPr>
          <a:xfrm>
            <a:off x="11247120" y="6601968"/>
            <a:ext cx="731520" cy="228600"/>
          </a:xfrm>
          <a:prstGeom prst="rect">
            <a:avLst/>
          </a:prstGeom>
          <a:noFill/>
        </p:spPr>
        <p:txBody>
          <a:bodyPr wrap="square" lIns="0" tIns="0" rIns="0" bIns="0" anchor="t">
            <a:spAutoFit/>
          </a:bodyPr>
          <a:lstStyle/>
          <a:p>
            <a:pPr algn="r"/>
            <a:r>
              <a:rPr sz="1000" b="0">
                <a:solidFill>
                  <a:srgbClr val="6C757D"/>
                </a:solidFill>
                <a:latin typeface="Hiragino Sans"/>
                <a:cs typeface="Hiragino Sans"/>
              </a:rPr>
              <a:t>2 /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57200" y="137160"/>
            <a:ext cx="1188720" cy="320040"/>
          </a:xfrm>
          <a:prstGeom prst="rect">
            <a:avLst/>
          </a:prstGeom>
          <a:noFill/>
        </p:spPr>
        <p:txBody>
          <a:bodyPr wrap="square" lIns="0" tIns="0" rIns="0" bIns="0" anchor="t">
            <a:spAutoFit/>
          </a:bodyPr>
          <a:lstStyle/>
          <a:p>
            <a:pPr algn="l"/>
            <a:r>
              <a:rPr sz="1400" b="1">
                <a:solidFill>
                  <a:srgbClr val="E56B2B"/>
                </a:solidFill>
                <a:latin typeface="Hiragino Sans"/>
                <a:cs typeface="Hiragino Sans"/>
              </a:rPr>
              <a:t>③ 認知負荷を下げる設計の方向性</a:t>
            </a:r>
          </a:p>
        </p:txBody>
      </p:sp>
      <p:sp>
        <p:nvSpPr>
          <p:cNvPr id="4" name="TextBox 3"/>
          <p:cNvSpPr txBox="1"/>
          <p:nvPr/>
        </p:nvSpPr>
        <p:spPr>
          <a:xfrm>
            <a:off x="1645920" y="411480"/>
            <a:ext cx="10058400" cy="548640"/>
          </a:xfrm>
          <a:prstGeom prst="rect">
            <a:avLst/>
          </a:prstGeom>
          <a:noFill/>
        </p:spPr>
        <p:txBody>
          <a:bodyPr wrap="square" lIns="0" tIns="0" rIns="0" bIns="0" anchor="t">
            <a:spAutoFit/>
          </a:bodyPr>
          <a:lstStyle/>
          <a:p>
            <a:pPr algn="l"/>
            <a:r>
              <a:rPr sz="2200" b="1" dirty="0" err="1">
                <a:solidFill>
                  <a:srgbClr val="FFFFFF"/>
                </a:solidFill>
                <a:latin typeface="Hiragino Sans"/>
                <a:cs typeface="Hiragino Sans"/>
              </a:rPr>
              <a:t>人間の容量を増やすのではなく</a:t>
            </a:r>
            <a:r>
              <a:rPr sz="2200" b="1" dirty="0">
                <a:solidFill>
                  <a:srgbClr val="FFFFFF"/>
                </a:solidFill>
                <a:latin typeface="Hiragino Sans"/>
                <a:cs typeface="Hiragino Sans"/>
              </a:rPr>
              <a:t>、"</a:t>
            </a:r>
            <a:r>
              <a:rPr sz="2200" b="1" dirty="0" err="1">
                <a:solidFill>
                  <a:srgbClr val="FFFFFF"/>
                </a:solidFill>
                <a:latin typeface="Hiragino Sans"/>
                <a:cs typeface="Hiragino Sans"/>
              </a:rPr>
              <a:t>何をいつ誰が見るか"を設計する</a:t>
            </a:r>
            <a:endParaRPr sz="2200" b="1" dirty="0">
              <a:solidFill>
                <a:srgbClr val="FFFFFF"/>
              </a:solidFill>
              <a:latin typeface="Hiragino Sans"/>
              <a:cs typeface="Hiragino Sans"/>
            </a:endParaRPr>
          </a:p>
        </p:txBody>
      </p:sp>
      <p:sp>
        <p:nvSpPr>
          <p:cNvPr id="5" name="TextBox 4"/>
          <p:cNvSpPr txBox="1"/>
          <p:nvPr/>
        </p:nvSpPr>
        <p:spPr>
          <a:xfrm>
            <a:off x="9601200" y="137160"/>
            <a:ext cx="2286000" cy="320040"/>
          </a:xfrm>
          <a:prstGeom prst="rect">
            <a:avLst/>
          </a:prstGeom>
          <a:noFill/>
        </p:spPr>
        <p:txBody>
          <a:bodyPr wrap="square" lIns="0" tIns="0" rIns="0" bIns="0" anchor="t">
            <a:spAutoFit/>
          </a:bodyPr>
          <a:lstStyle/>
          <a:p>
            <a:pPr algn="r"/>
            <a:r>
              <a:rPr sz="1100" b="0">
                <a:solidFill>
                  <a:srgbClr val="C0D0E0"/>
                </a:solidFill>
                <a:latin typeface="Hiragino Sans"/>
                <a:cs typeface="Hiragino Sans"/>
              </a:rPr>
              <a:t>2:30</a:t>
            </a:r>
          </a:p>
        </p:txBody>
      </p:sp>
      <p:sp>
        <p:nvSpPr>
          <p:cNvPr id="6" name="Rectangle 5"/>
          <p:cNvSpPr/>
          <p:nvPr/>
        </p:nvSpPr>
        <p:spPr>
          <a:xfrm>
            <a:off x="457200" y="1188720"/>
            <a:ext cx="11247120" cy="777240"/>
          </a:xfrm>
          <a:prstGeom prst="rect">
            <a:avLst/>
          </a:prstGeom>
          <a:solidFill>
            <a:srgbClr val="FFF4EA"/>
          </a:solidFill>
          <a:ln w="12700">
            <a:solidFill>
              <a:srgbClr val="E56B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280160"/>
            <a:ext cx="2286000" cy="274320"/>
          </a:xfrm>
          <a:prstGeom prst="rect">
            <a:avLst/>
          </a:prstGeom>
          <a:noFill/>
        </p:spPr>
        <p:txBody>
          <a:bodyPr wrap="square" lIns="0" tIns="0" rIns="0" bIns="0" anchor="t">
            <a:spAutoFit/>
          </a:bodyPr>
          <a:lstStyle/>
          <a:p>
            <a:pPr algn="l"/>
            <a:r>
              <a:rPr sz="1200" b="1">
                <a:solidFill>
                  <a:srgbClr val="E56B2B"/>
                </a:solidFill>
                <a:latin typeface="Hiragino Sans"/>
                <a:cs typeface="Hiragino Sans"/>
              </a:rPr>
              <a:t>発想の転換</a:t>
            </a:r>
          </a:p>
        </p:txBody>
      </p:sp>
      <p:sp>
        <p:nvSpPr>
          <p:cNvPr id="8" name="TextBox 7"/>
          <p:cNvSpPr txBox="1"/>
          <p:nvPr/>
        </p:nvSpPr>
        <p:spPr>
          <a:xfrm>
            <a:off x="731520" y="1554480"/>
            <a:ext cx="10789920" cy="457200"/>
          </a:xfrm>
          <a:prstGeom prst="rect">
            <a:avLst/>
          </a:prstGeom>
          <a:noFill/>
        </p:spPr>
        <p:txBody>
          <a:bodyPr wrap="square" lIns="0" tIns="0" rIns="0" bIns="0" anchor="t">
            <a:spAutoFit/>
          </a:bodyPr>
          <a:lstStyle/>
          <a:p>
            <a:pPr algn="l"/>
            <a:r>
              <a:rPr sz="1400" b="1" dirty="0">
                <a:solidFill>
                  <a:srgbClr val="1F3A5F"/>
                </a:solidFill>
                <a:latin typeface="Hiragino Sans"/>
                <a:cs typeface="Hiragino Sans"/>
              </a:rPr>
              <a:t>「</a:t>
            </a:r>
            <a:r>
              <a:rPr sz="1400" b="1" dirty="0" err="1">
                <a:solidFill>
                  <a:srgbClr val="1F3A5F"/>
                </a:solidFill>
                <a:latin typeface="Hiragino Sans"/>
                <a:cs typeface="Hiragino Sans"/>
              </a:rPr>
              <a:t>AIの出力すべてを人間が見る」前提を捨てる</a:t>
            </a:r>
            <a:r>
              <a:rPr sz="1400" b="1" dirty="0">
                <a:solidFill>
                  <a:srgbClr val="1F3A5F"/>
                </a:solidFill>
                <a:latin typeface="Hiragino Sans"/>
                <a:cs typeface="Hiragino Sans"/>
              </a:rPr>
              <a:t>　→　"</a:t>
            </a:r>
            <a:r>
              <a:rPr sz="1400" b="1" dirty="0" err="1">
                <a:solidFill>
                  <a:srgbClr val="1F3A5F"/>
                </a:solidFill>
                <a:latin typeface="Hiragino Sans"/>
                <a:cs typeface="Hiragino Sans"/>
              </a:rPr>
              <a:t>どこに・誰が・どの順で・なぜ</a:t>
            </a:r>
            <a:r>
              <a:rPr sz="1400" b="1" dirty="0">
                <a:solidFill>
                  <a:srgbClr val="1F3A5F"/>
                </a:solidFill>
                <a:latin typeface="Hiragino Sans"/>
                <a:cs typeface="Hiragino Sans"/>
              </a:rPr>
              <a:t>" </a:t>
            </a:r>
            <a:r>
              <a:rPr sz="1400" b="1" dirty="0" err="1">
                <a:solidFill>
                  <a:srgbClr val="1F3A5F"/>
                </a:solidFill>
                <a:latin typeface="Hiragino Sans"/>
                <a:cs typeface="Hiragino Sans"/>
              </a:rPr>
              <a:t>見るかを設計し直す</a:t>
            </a:r>
            <a:endParaRPr sz="1400" b="1" dirty="0">
              <a:solidFill>
                <a:srgbClr val="1F3A5F"/>
              </a:solidFill>
              <a:latin typeface="Hiragino Sans"/>
              <a:cs typeface="Hiragino Sans"/>
            </a:endParaRPr>
          </a:p>
        </p:txBody>
      </p:sp>
      <p:sp>
        <p:nvSpPr>
          <p:cNvPr id="9" name="Rectangle 8"/>
          <p:cNvSpPr/>
          <p:nvPr/>
        </p:nvSpPr>
        <p:spPr>
          <a:xfrm>
            <a:off x="457200" y="2148840"/>
            <a:ext cx="11247120" cy="566928"/>
          </a:xfrm>
          <a:prstGeom prst="rect">
            <a:avLst/>
          </a:prstGeom>
          <a:solidFill>
            <a:srgbClr val="F4F6F8"/>
          </a:solidFill>
          <a:ln w="635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457200" y="2148840"/>
            <a:ext cx="109728" cy="566928"/>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2286000"/>
            <a:ext cx="3017520" cy="365760"/>
          </a:xfrm>
          <a:prstGeom prst="rect">
            <a:avLst/>
          </a:prstGeom>
          <a:noFill/>
        </p:spPr>
        <p:txBody>
          <a:bodyPr wrap="square" lIns="0" tIns="0" rIns="0" bIns="0" anchor="t">
            <a:spAutoFit/>
          </a:bodyPr>
          <a:lstStyle/>
          <a:p>
            <a:pPr algn="l"/>
            <a:r>
              <a:rPr sz="1500" b="1">
                <a:solidFill>
                  <a:srgbClr val="1F3A5F"/>
                </a:solidFill>
                <a:latin typeface="Hiragino Sans"/>
                <a:cs typeface="Hiragino Sans"/>
              </a:rPr>
              <a:t>① 見る量を減らす</a:t>
            </a:r>
          </a:p>
        </p:txBody>
      </p:sp>
      <p:sp>
        <p:nvSpPr>
          <p:cNvPr id="12" name="TextBox 11"/>
          <p:cNvSpPr txBox="1"/>
          <p:nvPr/>
        </p:nvSpPr>
        <p:spPr>
          <a:xfrm>
            <a:off x="3840480" y="2286000"/>
            <a:ext cx="7680960" cy="365760"/>
          </a:xfrm>
          <a:prstGeom prst="rect">
            <a:avLst/>
          </a:prstGeom>
          <a:noFill/>
        </p:spPr>
        <p:txBody>
          <a:bodyPr wrap="square" lIns="0" tIns="0" rIns="0" bIns="0" anchor="t">
            <a:spAutoFit/>
          </a:bodyPr>
          <a:lstStyle/>
          <a:p>
            <a:pPr algn="l"/>
            <a:r>
              <a:rPr sz="1300" b="0">
                <a:solidFill>
                  <a:srgbClr val="202020"/>
                </a:solidFill>
                <a:latin typeface="Hiragino Sans"/>
                <a:cs typeface="Hiragino Sans"/>
              </a:rPr>
              <a:t>全件→高リスク・異常値だけ。AIにサマリを作らせ、差分と要点のみ見る</a:t>
            </a:r>
          </a:p>
        </p:txBody>
      </p:sp>
      <p:sp>
        <p:nvSpPr>
          <p:cNvPr id="13" name="Rectangle 12"/>
          <p:cNvSpPr/>
          <p:nvPr/>
        </p:nvSpPr>
        <p:spPr>
          <a:xfrm>
            <a:off x="457200" y="2770632"/>
            <a:ext cx="11247120" cy="566928"/>
          </a:xfrm>
          <a:prstGeom prst="rect">
            <a:avLst/>
          </a:prstGeom>
          <a:solidFill>
            <a:srgbClr val="F4F6F8"/>
          </a:solidFill>
          <a:ln w="635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57200" y="2770632"/>
            <a:ext cx="109728" cy="566928"/>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1520" y="2907792"/>
            <a:ext cx="3017520" cy="365760"/>
          </a:xfrm>
          <a:prstGeom prst="rect">
            <a:avLst/>
          </a:prstGeom>
          <a:noFill/>
        </p:spPr>
        <p:txBody>
          <a:bodyPr wrap="square" lIns="0" tIns="0" rIns="0" bIns="0" anchor="t">
            <a:spAutoFit/>
          </a:bodyPr>
          <a:lstStyle/>
          <a:p>
            <a:pPr algn="l"/>
            <a:r>
              <a:rPr sz="1500" b="1" dirty="0">
                <a:solidFill>
                  <a:srgbClr val="1F3A5F"/>
                </a:solidFill>
                <a:latin typeface="Hiragino Sans"/>
                <a:cs typeface="Hiragino Sans"/>
              </a:rPr>
              <a:t>② </a:t>
            </a:r>
            <a:r>
              <a:rPr sz="1500" b="1" dirty="0" err="1">
                <a:solidFill>
                  <a:srgbClr val="1F3A5F"/>
                </a:solidFill>
                <a:latin typeface="Hiragino Sans"/>
                <a:cs typeface="Hiragino Sans"/>
              </a:rPr>
              <a:t>見る順番を設計する</a:t>
            </a:r>
            <a:endParaRPr sz="1500" b="1" dirty="0">
              <a:solidFill>
                <a:srgbClr val="1F3A5F"/>
              </a:solidFill>
              <a:latin typeface="Hiragino Sans"/>
              <a:cs typeface="Hiragino Sans"/>
            </a:endParaRPr>
          </a:p>
        </p:txBody>
      </p:sp>
      <p:sp>
        <p:nvSpPr>
          <p:cNvPr id="16" name="TextBox 15"/>
          <p:cNvSpPr txBox="1"/>
          <p:nvPr/>
        </p:nvSpPr>
        <p:spPr>
          <a:xfrm>
            <a:off x="3840480" y="2907792"/>
            <a:ext cx="7680960" cy="365760"/>
          </a:xfrm>
          <a:prstGeom prst="rect">
            <a:avLst/>
          </a:prstGeom>
          <a:noFill/>
        </p:spPr>
        <p:txBody>
          <a:bodyPr wrap="square" lIns="0" tIns="0" rIns="0" bIns="0" anchor="t">
            <a:spAutoFit/>
          </a:bodyPr>
          <a:lstStyle/>
          <a:p>
            <a:pPr algn="l"/>
            <a:r>
              <a:rPr sz="1300" b="0">
                <a:solidFill>
                  <a:srgbClr val="202020"/>
                </a:solidFill>
                <a:latin typeface="Hiragino Sans"/>
                <a:cs typeface="Hiragino Sans"/>
              </a:rPr>
              <a:t>可逆性・影響範囲でレイヤー分け。取り返しがつかないものから見る</a:t>
            </a:r>
          </a:p>
        </p:txBody>
      </p:sp>
      <p:sp>
        <p:nvSpPr>
          <p:cNvPr id="17" name="Rectangle 16"/>
          <p:cNvSpPr/>
          <p:nvPr/>
        </p:nvSpPr>
        <p:spPr>
          <a:xfrm>
            <a:off x="457200" y="3392424"/>
            <a:ext cx="11247120" cy="566928"/>
          </a:xfrm>
          <a:prstGeom prst="rect">
            <a:avLst/>
          </a:prstGeom>
          <a:solidFill>
            <a:srgbClr val="F4F6F8"/>
          </a:solidFill>
          <a:ln w="635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57200" y="3392424"/>
            <a:ext cx="109728" cy="566928"/>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20" y="3529584"/>
            <a:ext cx="3017520" cy="365760"/>
          </a:xfrm>
          <a:prstGeom prst="rect">
            <a:avLst/>
          </a:prstGeom>
          <a:noFill/>
        </p:spPr>
        <p:txBody>
          <a:bodyPr wrap="square" lIns="0" tIns="0" rIns="0" bIns="0" anchor="t">
            <a:spAutoFit/>
          </a:bodyPr>
          <a:lstStyle/>
          <a:p>
            <a:pPr algn="l"/>
            <a:r>
              <a:rPr sz="1500" b="1" dirty="0">
                <a:solidFill>
                  <a:srgbClr val="1F3A5F"/>
                </a:solidFill>
                <a:latin typeface="Hiragino Sans"/>
                <a:cs typeface="Hiragino Sans"/>
              </a:rPr>
              <a:t>③ </a:t>
            </a:r>
            <a:r>
              <a:rPr sz="1500" b="1" dirty="0" err="1">
                <a:solidFill>
                  <a:srgbClr val="1F3A5F"/>
                </a:solidFill>
                <a:latin typeface="Hiragino Sans"/>
                <a:cs typeface="Hiragino Sans"/>
              </a:rPr>
              <a:t>見る人を変える</a:t>
            </a:r>
            <a:endParaRPr sz="1500" b="1" dirty="0">
              <a:solidFill>
                <a:srgbClr val="1F3A5F"/>
              </a:solidFill>
              <a:latin typeface="Hiragino Sans"/>
              <a:cs typeface="Hiragino Sans"/>
            </a:endParaRPr>
          </a:p>
        </p:txBody>
      </p:sp>
      <p:sp>
        <p:nvSpPr>
          <p:cNvPr id="20" name="TextBox 19"/>
          <p:cNvSpPr txBox="1"/>
          <p:nvPr/>
        </p:nvSpPr>
        <p:spPr>
          <a:xfrm>
            <a:off x="3840480" y="3529584"/>
            <a:ext cx="7680960" cy="365760"/>
          </a:xfrm>
          <a:prstGeom prst="rect">
            <a:avLst/>
          </a:prstGeom>
          <a:noFill/>
        </p:spPr>
        <p:txBody>
          <a:bodyPr wrap="square" lIns="0" tIns="0" rIns="0" bIns="0" anchor="t">
            <a:spAutoFit/>
          </a:bodyPr>
          <a:lstStyle/>
          <a:p>
            <a:pPr algn="l"/>
            <a:r>
              <a:rPr sz="1300" b="0">
                <a:solidFill>
                  <a:srgbClr val="202020"/>
                </a:solidFill>
                <a:latin typeface="Hiragino Sans"/>
                <a:cs typeface="Hiragino Sans"/>
              </a:rPr>
              <a:t>一次レビューはAIに任せ、人間は"例外"と"最終判断"に集中</a:t>
            </a:r>
          </a:p>
        </p:txBody>
      </p:sp>
      <p:sp>
        <p:nvSpPr>
          <p:cNvPr id="21" name="Rectangle 20"/>
          <p:cNvSpPr/>
          <p:nvPr/>
        </p:nvSpPr>
        <p:spPr>
          <a:xfrm>
            <a:off x="457200" y="4014216"/>
            <a:ext cx="11247120" cy="566928"/>
          </a:xfrm>
          <a:prstGeom prst="rect">
            <a:avLst/>
          </a:prstGeom>
          <a:solidFill>
            <a:srgbClr val="F4F6F8"/>
          </a:solidFill>
          <a:ln w="635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57200" y="4014216"/>
            <a:ext cx="109728" cy="566928"/>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1520" y="4151376"/>
            <a:ext cx="3017520" cy="365760"/>
          </a:xfrm>
          <a:prstGeom prst="rect">
            <a:avLst/>
          </a:prstGeom>
          <a:noFill/>
        </p:spPr>
        <p:txBody>
          <a:bodyPr wrap="square" lIns="0" tIns="0" rIns="0" bIns="0" anchor="t">
            <a:spAutoFit/>
          </a:bodyPr>
          <a:lstStyle/>
          <a:p>
            <a:pPr algn="l"/>
            <a:r>
              <a:rPr sz="1500" b="1" dirty="0">
                <a:solidFill>
                  <a:srgbClr val="1F3A5F"/>
                </a:solidFill>
                <a:latin typeface="Hiragino Sans"/>
                <a:cs typeface="Hiragino Sans"/>
              </a:rPr>
              <a:t>④ </a:t>
            </a:r>
            <a:r>
              <a:rPr sz="1500" b="1" dirty="0" err="1">
                <a:solidFill>
                  <a:srgbClr val="1F3A5F"/>
                </a:solidFill>
                <a:latin typeface="Hiragino Sans"/>
                <a:cs typeface="Hiragino Sans"/>
              </a:rPr>
              <a:t>判断と成果をつなげる</a:t>
            </a:r>
            <a:endParaRPr sz="1500" b="1" dirty="0">
              <a:solidFill>
                <a:srgbClr val="1F3A5F"/>
              </a:solidFill>
              <a:latin typeface="Hiragino Sans"/>
              <a:cs typeface="Hiragino Sans"/>
            </a:endParaRPr>
          </a:p>
        </p:txBody>
      </p:sp>
      <p:sp>
        <p:nvSpPr>
          <p:cNvPr id="24" name="TextBox 23"/>
          <p:cNvSpPr txBox="1"/>
          <p:nvPr/>
        </p:nvSpPr>
        <p:spPr>
          <a:xfrm>
            <a:off x="3840480" y="4151376"/>
            <a:ext cx="7680960" cy="365760"/>
          </a:xfrm>
          <a:prstGeom prst="rect">
            <a:avLst/>
          </a:prstGeom>
          <a:noFill/>
        </p:spPr>
        <p:txBody>
          <a:bodyPr wrap="square" lIns="0" tIns="0" rIns="0" bIns="0" anchor="t">
            <a:spAutoFit/>
          </a:bodyPr>
          <a:lstStyle/>
          <a:p>
            <a:pPr algn="l"/>
            <a:r>
              <a:rPr sz="1300" b="0">
                <a:solidFill>
                  <a:srgbClr val="202020"/>
                </a:solidFill>
                <a:latin typeface="Hiragino Sans"/>
                <a:cs typeface="Hiragino Sans"/>
              </a:rPr>
              <a:t>成果データを事後にレビュアーに返し、「丁寧に見たこと」が報われる実感を作る</a:t>
            </a:r>
          </a:p>
        </p:txBody>
      </p:sp>
      <p:sp>
        <p:nvSpPr>
          <p:cNvPr id="25" name="Rectangle 24"/>
          <p:cNvSpPr/>
          <p:nvPr/>
        </p:nvSpPr>
        <p:spPr>
          <a:xfrm>
            <a:off x="457200" y="4636008"/>
            <a:ext cx="11247120" cy="566928"/>
          </a:xfrm>
          <a:prstGeom prst="rect">
            <a:avLst/>
          </a:prstGeom>
          <a:solidFill>
            <a:srgbClr val="F4F6F8"/>
          </a:solidFill>
          <a:ln w="635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457200" y="4636008"/>
            <a:ext cx="109728" cy="566928"/>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1520" y="4773168"/>
            <a:ext cx="3017520" cy="365760"/>
          </a:xfrm>
          <a:prstGeom prst="rect">
            <a:avLst/>
          </a:prstGeom>
          <a:noFill/>
        </p:spPr>
        <p:txBody>
          <a:bodyPr wrap="square" lIns="0" tIns="0" rIns="0" bIns="0" anchor="t">
            <a:spAutoFit/>
          </a:bodyPr>
          <a:lstStyle/>
          <a:p>
            <a:pPr algn="l"/>
            <a:r>
              <a:rPr sz="1500" b="1" dirty="0">
                <a:solidFill>
                  <a:srgbClr val="1F3A5F"/>
                </a:solidFill>
                <a:latin typeface="Hiragino Sans"/>
                <a:cs typeface="Hiragino Sans"/>
              </a:rPr>
              <a:t>⑤ </a:t>
            </a:r>
            <a:r>
              <a:rPr sz="1500" b="1" dirty="0" err="1">
                <a:solidFill>
                  <a:srgbClr val="1F3A5F"/>
                </a:solidFill>
                <a:latin typeface="Hiragino Sans"/>
                <a:cs typeface="Hiragino Sans"/>
              </a:rPr>
              <a:t>見え方を変える</a:t>
            </a:r>
            <a:endParaRPr sz="1500" b="1" dirty="0">
              <a:solidFill>
                <a:srgbClr val="1F3A5F"/>
              </a:solidFill>
              <a:latin typeface="Hiragino Sans"/>
              <a:cs typeface="Hiragino Sans"/>
            </a:endParaRPr>
          </a:p>
        </p:txBody>
      </p:sp>
      <p:sp>
        <p:nvSpPr>
          <p:cNvPr id="28" name="TextBox 27"/>
          <p:cNvSpPr txBox="1"/>
          <p:nvPr/>
        </p:nvSpPr>
        <p:spPr>
          <a:xfrm>
            <a:off x="3840480" y="4773168"/>
            <a:ext cx="7680960" cy="365760"/>
          </a:xfrm>
          <a:prstGeom prst="rect">
            <a:avLst/>
          </a:prstGeom>
          <a:noFill/>
        </p:spPr>
        <p:txBody>
          <a:bodyPr wrap="square" lIns="0" tIns="0" rIns="0" bIns="0" anchor="t">
            <a:spAutoFit/>
          </a:bodyPr>
          <a:lstStyle/>
          <a:p>
            <a:pPr algn="l"/>
            <a:r>
              <a:rPr sz="1300" b="0">
                <a:solidFill>
                  <a:srgbClr val="202020"/>
                </a:solidFill>
                <a:latin typeface="Hiragino Sans"/>
                <a:cs typeface="Hiragino Sans"/>
              </a:rPr>
              <a:t>差分ハイライト・優先度ラベル（必須 vs 任意）・階層化で、同じ情報量でも処理負荷を下げる</a:t>
            </a:r>
          </a:p>
        </p:txBody>
      </p:sp>
      <p:sp>
        <p:nvSpPr>
          <p:cNvPr id="29" name="Rectangle 28"/>
          <p:cNvSpPr/>
          <p:nvPr/>
        </p:nvSpPr>
        <p:spPr>
          <a:xfrm>
            <a:off x="457200" y="5532120"/>
            <a:ext cx="11247120" cy="6858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1520" y="5650992"/>
            <a:ext cx="10789920" cy="457200"/>
          </a:xfrm>
          <a:prstGeom prst="rect">
            <a:avLst/>
          </a:prstGeom>
          <a:noFill/>
        </p:spPr>
        <p:txBody>
          <a:bodyPr wrap="square" lIns="0" tIns="0" rIns="0" bIns="0" anchor="t">
            <a:spAutoFit/>
          </a:bodyPr>
          <a:lstStyle/>
          <a:p>
            <a:pPr algn="l"/>
            <a:r>
              <a:rPr sz="1600" b="1" dirty="0" err="1">
                <a:solidFill>
                  <a:srgbClr val="FFFFFF"/>
                </a:solidFill>
                <a:latin typeface="Hiragino Sans"/>
                <a:cs typeface="Hiragino Sans"/>
              </a:rPr>
              <a:t>設計の核：人間が見るべき場所に、人間の注意を集中させる</a:t>
            </a:r>
            <a:endParaRPr sz="1600" b="1" dirty="0">
              <a:solidFill>
                <a:srgbClr val="FFFFFF"/>
              </a:solidFill>
              <a:latin typeface="Hiragino Sans"/>
              <a:cs typeface="Hiragino Sans"/>
            </a:endParaRPr>
          </a:p>
        </p:txBody>
      </p:sp>
      <p:sp>
        <p:nvSpPr>
          <p:cNvPr id="31" name="Rectangle 30"/>
          <p:cNvSpPr/>
          <p:nvPr/>
        </p:nvSpPr>
        <p:spPr>
          <a:xfrm>
            <a:off x="0" y="6583680"/>
            <a:ext cx="12191695" cy="2743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57200" y="6601968"/>
            <a:ext cx="10058400" cy="228600"/>
          </a:xfrm>
          <a:prstGeom prst="rect">
            <a:avLst/>
          </a:prstGeom>
          <a:noFill/>
        </p:spPr>
        <p:txBody>
          <a:bodyPr wrap="square" lIns="0" tIns="0" rIns="0" bIns="0" anchor="t">
            <a:spAutoFit/>
          </a:bodyPr>
          <a:lstStyle/>
          <a:p>
            <a:pPr algn="l"/>
            <a:r>
              <a:rPr sz="1000" b="0">
                <a:solidFill>
                  <a:srgbClr val="6C757D"/>
                </a:solidFill>
                <a:latin typeface="Hiragino Sans"/>
                <a:cs typeface="Hiragino Sans"/>
              </a:rPr>
              <a:t>AI時代の認知負荷と適切なHITL設計</a:t>
            </a:r>
          </a:p>
        </p:txBody>
      </p:sp>
      <p:sp>
        <p:nvSpPr>
          <p:cNvPr id="33" name="TextBox 32"/>
          <p:cNvSpPr txBox="1"/>
          <p:nvPr/>
        </p:nvSpPr>
        <p:spPr>
          <a:xfrm>
            <a:off x="11247120" y="6601968"/>
            <a:ext cx="731520" cy="228600"/>
          </a:xfrm>
          <a:prstGeom prst="rect">
            <a:avLst/>
          </a:prstGeom>
          <a:noFill/>
        </p:spPr>
        <p:txBody>
          <a:bodyPr wrap="square" lIns="0" tIns="0" rIns="0" bIns="0" anchor="t">
            <a:spAutoFit/>
          </a:bodyPr>
          <a:lstStyle/>
          <a:p>
            <a:pPr algn="r"/>
            <a:r>
              <a:rPr sz="1000" b="0">
                <a:solidFill>
                  <a:srgbClr val="6C757D"/>
                </a:solidFill>
                <a:latin typeface="Hiragino Sans"/>
                <a:cs typeface="Hiragino Sans"/>
              </a:rPr>
              <a:t>3 /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57200" y="137160"/>
            <a:ext cx="1188720" cy="320040"/>
          </a:xfrm>
          <a:prstGeom prst="rect">
            <a:avLst/>
          </a:prstGeom>
          <a:noFill/>
        </p:spPr>
        <p:txBody>
          <a:bodyPr wrap="square" lIns="0" tIns="0" rIns="0" bIns="0" anchor="t">
            <a:spAutoFit/>
          </a:bodyPr>
          <a:lstStyle/>
          <a:p>
            <a:pPr algn="l"/>
            <a:r>
              <a:rPr sz="1400" b="1" dirty="0">
                <a:solidFill>
                  <a:srgbClr val="E56B2B"/>
                </a:solidFill>
                <a:latin typeface="Hiragino Sans"/>
                <a:cs typeface="Hiragino Sans"/>
              </a:rPr>
              <a:t>④ 明日から始められる2つの打ち手</a:t>
            </a:r>
          </a:p>
        </p:txBody>
      </p:sp>
      <p:sp>
        <p:nvSpPr>
          <p:cNvPr id="4" name="TextBox 3"/>
          <p:cNvSpPr txBox="1"/>
          <p:nvPr/>
        </p:nvSpPr>
        <p:spPr>
          <a:xfrm>
            <a:off x="1828800" y="411480"/>
            <a:ext cx="10058400" cy="338554"/>
          </a:xfrm>
          <a:prstGeom prst="rect">
            <a:avLst/>
          </a:prstGeom>
          <a:noFill/>
        </p:spPr>
        <p:txBody>
          <a:bodyPr wrap="square" lIns="0" tIns="0" rIns="0" bIns="0" anchor="t">
            <a:spAutoFit/>
          </a:bodyPr>
          <a:lstStyle/>
          <a:p>
            <a:pPr algn="l"/>
            <a:r>
              <a:rPr lang="en-US" sz="2200" b="1" dirty="0" err="1">
                <a:solidFill>
                  <a:srgbClr val="FFFFFF"/>
                </a:solidFill>
                <a:latin typeface="Hiragino Sans"/>
                <a:cs typeface="Hiragino Sans"/>
              </a:rPr>
              <a:t>LPの現場における打ち手</a:t>
            </a:r>
            <a:endParaRPr sz="2200" b="1" dirty="0">
              <a:solidFill>
                <a:srgbClr val="FFFFFF"/>
              </a:solidFill>
              <a:latin typeface="Hiragino Sans"/>
              <a:cs typeface="Hiragino Sans"/>
            </a:endParaRPr>
          </a:p>
        </p:txBody>
      </p:sp>
      <p:sp>
        <p:nvSpPr>
          <p:cNvPr id="5" name="TextBox 4"/>
          <p:cNvSpPr txBox="1"/>
          <p:nvPr/>
        </p:nvSpPr>
        <p:spPr>
          <a:xfrm>
            <a:off x="9601200" y="137160"/>
            <a:ext cx="2286000" cy="320040"/>
          </a:xfrm>
          <a:prstGeom prst="rect">
            <a:avLst/>
          </a:prstGeom>
          <a:noFill/>
        </p:spPr>
        <p:txBody>
          <a:bodyPr wrap="square" lIns="0" tIns="0" rIns="0" bIns="0" anchor="t">
            <a:spAutoFit/>
          </a:bodyPr>
          <a:lstStyle/>
          <a:p>
            <a:pPr algn="r"/>
            <a:r>
              <a:rPr sz="1100" b="0">
                <a:solidFill>
                  <a:srgbClr val="C0D0E0"/>
                </a:solidFill>
                <a:latin typeface="Hiragino Sans"/>
                <a:cs typeface="Hiragino Sans"/>
              </a:rPr>
              <a:t>2:30</a:t>
            </a:r>
          </a:p>
        </p:txBody>
      </p:sp>
      <p:sp>
        <p:nvSpPr>
          <p:cNvPr id="6" name="TextBox 5"/>
          <p:cNvSpPr txBox="1"/>
          <p:nvPr/>
        </p:nvSpPr>
        <p:spPr>
          <a:xfrm>
            <a:off x="457200" y="1143000"/>
            <a:ext cx="11247120" cy="365760"/>
          </a:xfrm>
          <a:prstGeom prst="rect">
            <a:avLst/>
          </a:prstGeom>
          <a:noFill/>
        </p:spPr>
        <p:txBody>
          <a:bodyPr wrap="square" lIns="0" tIns="0" rIns="0" bIns="0" anchor="t">
            <a:spAutoFit/>
          </a:bodyPr>
          <a:lstStyle/>
          <a:p>
            <a:pPr algn="l"/>
            <a:r>
              <a:rPr sz="1400" b="1">
                <a:solidFill>
                  <a:srgbClr val="1F3A5F"/>
                </a:solidFill>
                <a:latin typeface="Hiragino Sans"/>
                <a:cs typeface="Hiragino Sans"/>
              </a:rPr>
              <a:t>現状のカバー状況</a:t>
            </a:r>
          </a:p>
        </p:txBody>
      </p:sp>
      <p:sp>
        <p:nvSpPr>
          <p:cNvPr id="7" name="Rectangle 6"/>
          <p:cNvSpPr/>
          <p:nvPr/>
        </p:nvSpPr>
        <p:spPr>
          <a:xfrm>
            <a:off x="457200" y="1508760"/>
            <a:ext cx="2743200" cy="384048"/>
          </a:xfrm>
          <a:prstGeom prst="rect">
            <a:avLst/>
          </a:prstGeom>
          <a:solidFill>
            <a:srgbClr val="1F3A5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554480"/>
            <a:ext cx="2560320" cy="292608"/>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設計軸</a:t>
            </a:r>
          </a:p>
        </p:txBody>
      </p:sp>
      <p:sp>
        <p:nvSpPr>
          <p:cNvPr id="9" name="Rectangle 8"/>
          <p:cNvSpPr/>
          <p:nvPr/>
        </p:nvSpPr>
        <p:spPr>
          <a:xfrm>
            <a:off x="3200400" y="1508760"/>
            <a:ext cx="3474720" cy="384048"/>
          </a:xfrm>
          <a:prstGeom prst="rect">
            <a:avLst/>
          </a:prstGeom>
          <a:solidFill>
            <a:srgbClr val="1F3A5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291840" y="1554480"/>
            <a:ext cx="3291840" cy="292608"/>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状況</a:t>
            </a:r>
          </a:p>
        </p:txBody>
      </p:sp>
      <p:sp>
        <p:nvSpPr>
          <p:cNvPr id="11" name="Rectangle 10"/>
          <p:cNvSpPr/>
          <p:nvPr/>
        </p:nvSpPr>
        <p:spPr>
          <a:xfrm>
            <a:off x="6675120" y="1508760"/>
            <a:ext cx="5029200" cy="384048"/>
          </a:xfrm>
          <a:prstGeom prst="rect">
            <a:avLst/>
          </a:prstGeom>
          <a:solidFill>
            <a:srgbClr val="1F3A5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766560" y="1554480"/>
            <a:ext cx="4846320" cy="292608"/>
          </a:xfrm>
          <a:prstGeom prst="rect">
            <a:avLst/>
          </a:prstGeom>
          <a:noFill/>
        </p:spPr>
        <p:txBody>
          <a:bodyPr wrap="square" lIns="0" tIns="0" rIns="0" bIns="0" anchor="ctr">
            <a:spAutoFit/>
          </a:bodyPr>
          <a:lstStyle/>
          <a:p>
            <a:pPr algn="l"/>
            <a:r>
              <a:rPr sz="1200" b="1">
                <a:solidFill>
                  <a:srgbClr val="FFFFFF"/>
                </a:solidFill>
                <a:latin typeface="Hiragino Sans"/>
                <a:cs typeface="Hiragino Sans"/>
              </a:rPr>
              <a:t>補足</a:t>
            </a:r>
          </a:p>
        </p:txBody>
      </p:sp>
      <p:sp>
        <p:nvSpPr>
          <p:cNvPr id="13" name="Rectangle 12"/>
          <p:cNvSpPr/>
          <p:nvPr/>
        </p:nvSpPr>
        <p:spPr>
          <a:xfrm>
            <a:off x="457200" y="1892808"/>
            <a:ext cx="2743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1938528"/>
            <a:ext cx="256032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① </a:t>
            </a:r>
            <a:r>
              <a:rPr sz="1200" b="0" dirty="0" err="1">
                <a:solidFill>
                  <a:srgbClr val="202020"/>
                </a:solidFill>
                <a:latin typeface="Hiragino Sans"/>
                <a:cs typeface="Hiragino Sans"/>
              </a:rPr>
              <a:t>見る量を減らす</a:t>
            </a:r>
            <a:endParaRPr sz="1200" b="0" dirty="0">
              <a:solidFill>
                <a:srgbClr val="202020"/>
              </a:solidFill>
              <a:latin typeface="Hiragino Sans"/>
              <a:cs typeface="Hiragino Sans"/>
            </a:endParaRPr>
          </a:p>
        </p:txBody>
      </p:sp>
      <p:sp>
        <p:nvSpPr>
          <p:cNvPr id="15" name="Rectangle 14"/>
          <p:cNvSpPr/>
          <p:nvPr/>
        </p:nvSpPr>
        <p:spPr>
          <a:xfrm>
            <a:off x="3200400" y="1892808"/>
            <a:ext cx="347472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291840" y="1938528"/>
            <a:ext cx="329184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未着手</a:t>
            </a:r>
          </a:p>
        </p:txBody>
      </p:sp>
      <p:sp>
        <p:nvSpPr>
          <p:cNvPr id="17" name="Rectangle 16"/>
          <p:cNvSpPr/>
          <p:nvPr/>
        </p:nvSpPr>
        <p:spPr>
          <a:xfrm>
            <a:off x="6675120" y="1892808"/>
            <a:ext cx="5029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66560" y="1938528"/>
            <a:ext cx="484632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今回の打ち手①で補完</a:t>
            </a:r>
          </a:p>
        </p:txBody>
      </p:sp>
      <p:sp>
        <p:nvSpPr>
          <p:cNvPr id="19" name="Rectangle 18"/>
          <p:cNvSpPr/>
          <p:nvPr/>
        </p:nvSpPr>
        <p:spPr>
          <a:xfrm>
            <a:off x="457200" y="2276856"/>
            <a:ext cx="274320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2322576"/>
            <a:ext cx="256032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② </a:t>
            </a:r>
            <a:r>
              <a:rPr sz="1200" b="0" dirty="0" err="1">
                <a:solidFill>
                  <a:srgbClr val="202020"/>
                </a:solidFill>
                <a:latin typeface="Hiragino Sans"/>
                <a:cs typeface="Hiragino Sans"/>
              </a:rPr>
              <a:t>見る順番を設計する</a:t>
            </a:r>
            <a:endParaRPr sz="1200" b="0" dirty="0">
              <a:solidFill>
                <a:srgbClr val="202020"/>
              </a:solidFill>
              <a:latin typeface="Hiragino Sans"/>
              <a:cs typeface="Hiragino Sans"/>
            </a:endParaRPr>
          </a:p>
        </p:txBody>
      </p:sp>
      <p:sp>
        <p:nvSpPr>
          <p:cNvPr id="21" name="Rectangle 20"/>
          <p:cNvSpPr/>
          <p:nvPr/>
        </p:nvSpPr>
        <p:spPr>
          <a:xfrm>
            <a:off x="3200400" y="2276856"/>
            <a:ext cx="347472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291840" y="2322576"/>
            <a:ext cx="329184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未着手</a:t>
            </a:r>
          </a:p>
        </p:txBody>
      </p:sp>
      <p:sp>
        <p:nvSpPr>
          <p:cNvPr id="23" name="Rectangle 22"/>
          <p:cNvSpPr/>
          <p:nvPr/>
        </p:nvSpPr>
        <p:spPr>
          <a:xfrm>
            <a:off x="6675120" y="2276856"/>
            <a:ext cx="502920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66560" y="2322576"/>
            <a:ext cx="484632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今回の打ち手①で補完</a:t>
            </a:r>
          </a:p>
        </p:txBody>
      </p:sp>
      <p:sp>
        <p:nvSpPr>
          <p:cNvPr id="25" name="Rectangle 24"/>
          <p:cNvSpPr/>
          <p:nvPr/>
        </p:nvSpPr>
        <p:spPr>
          <a:xfrm>
            <a:off x="457200" y="2660904"/>
            <a:ext cx="2743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8640" y="2706624"/>
            <a:ext cx="256032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③ </a:t>
            </a:r>
            <a:r>
              <a:rPr sz="1200" b="0" dirty="0" err="1">
                <a:solidFill>
                  <a:srgbClr val="202020"/>
                </a:solidFill>
                <a:latin typeface="Hiragino Sans"/>
                <a:cs typeface="Hiragino Sans"/>
              </a:rPr>
              <a:t>見る人を変える</a:t>
            </a:r>
            <a:endParaRPr sz="1200" b="0" dirty="0">
              <a:solidFill>
                <a:srgbClr val="202020"/>
              </a:solidFill>
              <a:latin typeface="Hiragino Sans"/>
              <a:cs typeface="Hiragino Sans"/>
            </a:endParaRPr>
          </a:p>
        </p:txBody>
      </p:sp>
      <p:sp>
        <p:nvSpPr>
          <p:cNvPr id="27" name="Rectangle 26"/>
          <p:cNvSpPr/>
          <p:nvPr/>
        </p:nvSpPr>
        <p:spPr>
          <a:xfrm>
            <a:off x="3200400" y="2660904"/>
            <a:ext cx="347472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291840" y="2706624"/>
            <a:ext cx="329184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 現状モジュールで吸収済み</a:t>
            </a:r>
          </a:p>
        </p:txBody>
      </p:sp>
      <p:sp>
        <p:nvSpPr>
          <p:cNvPr id="29" name="Rectangle 28"/>
          <p:cNvSpPr/>
          <p:nvPr/>
        </p:nvSpPr>
        <p:spPr>
          <a:xfrm>
            <a:off x="6675120" y="2660904"/>
            <a:ext cx="5029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66560" y="2706624"/>
            <a:ext cx="4846320" cy="292608"/>
          </a:xfrm>
          <a:prstGeom prst="rect">
            <a:avLst/>
          </a:prstGeom>
          <a:noFill/>
        </p:spPr>
        <p:txBody>
          <a:bodyPr wrap="square" lIns="0" tIns="0" rIns="0" bIns="0" anchor="ctr">
            <a:spAutoFit/>
          </a:bodyPr>
          <a:lstStyle/>
          <a:p>
            <a:pPr algn="l"/>
            <a:r>
              <a:rPr sz="1200" b="0" dirty="0" err="1">
                <a:solidFill>
                  <a:srgbClr val="202020"/>
                </a:solidFill>
                <a:latin typeface="Hiragino Sans"/>
                <a:cs typeface="Hiragino Sans"/>
              </a:rPr>
              <a:t>AI一次レビュー運用が稼働中</a:t>
            </a:r>
            <a:endParaRPr sz="1200" b="0" dirty="0">
              <a:solidFill>
                <a:srgbClr val="202020"/>
              </a:solidFill>
              <a:latin typeface="Hiragino Sans"/>
              <a:cs typeface="Hiragino Sans"/>
            </a:endParaRPr>
          </a:p>
        </p:txBody>
      </p:sp>
      <p:sp>
        <p:nvSpPr>
          <p:cNvPr id="31" name="Rectangle 30"/>
          <p:cNvSpPr/>
          <p:nvPr/>
        </p:nvSpPr>
        <p:spPr>
          <a:xfrm>
            <a:off x="457200" y="3044952"/>
            <a:ext cx="274320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48640" y="3090672"/>
            <a:ext cx="256032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④ </a:t>
            </a:r>
            <a:r>
              <a:rPr sz="1200" b="0" dirty="0" err="1">
                <a:solidFill>
                  <a:srgbClr val="202020"/>
                </a:solidFill>
                <a:latin typeface="Hiragino Sans"/>
                <a:cs typeface="Hiragino Sans"/>
              </a:rPr>
              <a:t>判断と成果をつなげる</a:t>
            </a:r>
            <a:endParaRPr sz="1200" b="0" dirty="0">
              <a:solidFill>
                <a:srgbClr val="202020"/>
              </a:solidFill>
              <a:latin typeface="Hiragino Sans"/>
              <a:cs typeface="Hiragino Sans"/>
            </a:endParaRPr>
          </a:p>
        </p:txBody>
      </p:sp>
      <p:sp>
        <p:nvSpPr>
          <p:cNvPr id="33" name="Rectangle 32"/>
          <p:cNvSpPr/>
          <p:nvPr/>
        </p:nvSpPr>
        <p:spPr>
          <a:xfrm>
            <a:off x="3200400" y="3044952"/>
            <a:ext cx="347472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291840" y="3090672"/>
            <a:ext cx="329184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未着手</a:t>
            </a:r>
          </a:p>
        </p:txBody>
      </p:sp>
      <p:sp>
        <p:nvSpPr>
          <p:cNvPr id="35" name="Rectangle 34"/>
          <p:cNvSpPr/>
          <p:nvPr/>
        </p:nvSpPr>
        <p:spPr>
          <a:xfrm>
            <a:off x="6675120" y="3044952"/>
            <a:ext cx="5029200" cy="384048"/>
          </a:xfrm>
          <a:prstGeom prst="rect">
            <a:avLst/>
          </a:prstGeom>
          <a:solidFill>
            <a:srgbClr val="F4F6F8"/>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766560" y="3090672"/>
            <a:ext cx="484632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今回の打ち手②で補完</a:t>
            </a:r>
          </a:p>
        </p:txBody>
      </p:sp>
      <p:sp>
        <p:nvSpPr>
          <p:cNvPr id="37" name="Rectangle 36"/>
          <p:cNvSpPr/>
          <p:nvPr/>
        </p:nvSpPr>
        <p:spPr>
          <a:xfrm>
            <a:off x="457200" y="3429000"/>
            <a:ext cx="2743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48640" y="3474720"/>
            <a:ext cx="256032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⑤ </a:t>
            </a:r>
            <a:r>
              <a:rPr sz="1200" b="0" dirty="0" err="1">
                <a:solidFill>
                  <a:srgbClr val="202020"/>
                </a:solidFill>
                <a:latin typeface="Hiragino Sans"/>
                <a:cs typeface="Hiragino Sans"/>
              </a:rPr>
              <a:t>見え方を変える</a:t>
            </a:r>
            <a:endParaRPr sz="1200" b="0" dirty="0">
              <a:solidFill>
                <a:srgbClr val="202020"/>
              </a:solidFill>
              <a:latin typeface="Hiragino Sans"/>
              <a:cs typeface="Hiragino Sans"/>
            </a:endParaRPr>
          </a:p>
        </p:txBody>
      </p:sp>
      <p:sp>
        <p:nvSpPr>
          <p:cNvPr id="39" name="Rectangle 38"/>
          <p:cNvSpPr/>
          <p:nvPr/>
        </p:nvSpPr>
        <p:spPr>
          <a:xfrm>
            <a:off x="3200400" y="3429000"/>
            <a:ext cx="347472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291840" y="3474720"/>
            <a:ext cx="3291840" cy="292608"/>
          </a:xfrm>
          <a:prstGeom prst="rect">
            <a:avLst/>
          </a:prstGeom>
          <a:noFill/>
        </p:spPr>
        <p:txBody>
          <a:bodyPr wrap="square" lIns="0" tIns="0" rIns="0" bIns="0" anchor="ctr">
            <a:spAutoFit/>
          </a:bodyPr>
          <a:lstStyle/>
          <a:p>
            <a:pPr algn="l"/>
            <a:r>
              <a:rPr sz="1200" b="0" dirty="0">
                <a:solidFill>
                  <a:srgbClr val="202020"/>
                </a:solidFill>
                <a:latin typeface="Hiragino Sans"/>
                <a:cs typeface="Hiragino Sans"/>
              </a:rPr>
              <a:t>✅ </a:t>
            </a:r>
            <a:r>
              <a:rPr sz="1200" b="0" dirty="0" err="1">
                <a:solidFill>
                  <a:srgbClr val="202020"/>
                </a:solidFill>
                <a:latin typeface="Hiragino Sans"/>
                <a:cs typeface="Hiragino Sans"/>
              </a:rPr>
              <a:t>Ziflowで吸収済み</a:t>
            </a:r>
            <a:endParaRPr sz="1200" b="0" dirty="0">
              <a:solidFill>
                <a:srgbClr val="202020"/>
              </a:solidFill>
              <a:latin typeface="Hiragino Sans"/>
              <a:cs typeface="Hiragino Sans"/>
            </a:endParaRPr>
          </a:p>
        </p:txBody>
      </p:sp>
      <p:sp>
        <p:nvSpPr>
          <p:cNvPr id="41" name="Rectangle 40"/>
          <p:cNvSpPr/>
          <p:nvPr/>
        </p:nvSpPr>
        <p:spPr>
          <a:xfrm>
            <a:off x="6675120" y="3429000"/>
            <a:ext cx="5029200" cy="384048"/>
          </a:xfrm>
          <a:prstGeom prst="rect">
            <a:avLst/>
          </a:prstGeom>
          <a:solidFill>
            <a:srgbClr val="FFFFFF"/>
          </a:solidFill>
          <a:ln>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766560" y="3474720"/>
            <a:ext cx="4846320" cy="292608"/>
          </a:xfrm>
          <a:prstGeom prst="rect">
            <a:avLst/>
          </a:prstGeom>
          <a:noFill/>
        </p:spPr>
        <p:txBody>
          <a:bodyPr wrap="square" lIns="0" tIns="0" rIns="0" bIns="0" anchor="ctr">
            <a:spAutoFit/>
          </a:bodyPr>
          <a:lstStyle/>
          <a:p>
            <a:pPr algn="l"/>
            <a:r>
              <a:rPr sz="1200" b="0">
                <a:solidFill>
                  <a:srgbClr val="202020"/>
                </a:solidFill>
                <a:latin typeface="Hiragino Sans"/>
                <a:cs typeface="Hiragino Sans"/>
              </a:rPr>
              <a:t>差分・コメント・承認フロー</a:t>
            </a:r>
          </a:p>
        </p:txBody>
      </p:sp>
      <p:sp>
        <p:nvSpPr>
          <p:cNvPr id="43" name="Rectangle 42"/>
          <p:cNvSpPr/>
          <p:nvPr/>
        </p:nvSpPr>
        <p:spPr>
          <a:xfrm>
            <a:off x="457200" y="4160520"/>
            <a:ext cx="5577840" cy="2194560"/>
          </a:xfrm>
          <a:prstGeom prst="rect">
            <a:avLst/>
          </a:prstGeom>
          <a:solidFill>
            <a:srgbClr val="FFF4EA"/>
          </a:solidFill>
          <a:ln w="12700">
            <a:solidFill>
              <a:srgbClr val="E56B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457200" y="4160520"/>
            <a:ext cx="109728" cy="2194560"/>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31520" y="4251960"/>
            <a:ext cx="5029200" cy="320040"/>
          </a:xfrm>
          <a:prstGeom prst="rect">
            <a:avLst/>
          </a:prstGeom>
          <a:noFill/>
        </p:spPr>
        <p:txBody>
          <a:bodyPr wrap="square" lIns="0" tIns="0" rIns="0" bIns="0" anchor="t">
            <a:spAutoFit/>
          </a:bodyPr>
          <a:lstStyle/>
          <a:p>
            <a:pPr algn="l"/>
            <a:r>
              <a:rPr sz="1100" b="1">
                <a:solidFill>
                  <a:srgbClr val="E56B2B"/>
                </a:solidFill>
                <a:latin typeface="Hiragino Sans"/>
                <a:cs typeface="Hiragino Sans"/>
              </a:rPr>
              <a:t>打ち手 ①</a:t>
            </a:r>
          </a:p>
        </p:txBody>
      </p:sp>
      <p:sp>
        <p:nvSpPr>
          <p:cNvPr id="46" name="TextBox 45"/>
          <p:cNvSpPr txBox="1"/>
          <p:nvPr/>
        </p:nvSpPr>
        <p:spPr>
          <a:xfrm>
            <a:off x="731520" y="4526280"/>
            <a:ext cx="5029200" cy="457200"/>
          </a:xfrm>
          <a:prstGeom prst="rect">
            <a:avLst/>
          </a:prstGeom>
          <a:noFill/>
        </p:spPr>
        <p:txBody>
          <a:bodyPr wrap="square" lIns="0" tIns="0" rIns="0" bIns="0" anchor="t">
            <a:spAutoFit/>
          </a:bodyPr>
          <a:lstStyle/>
          <a:p>
            <a:pPr algn="l"/>
            <a:r>
              <a:rPr sz="1500" b="1" dirty="0" err="1">
                <a:solidFill>
                  <a:srgbClr val="1F3A5F"/>
                </a:solidFill>
                <a:latin typeface="Hiragino Sans"/>
                <a:cs typeface="Hiragino Sans"/>
              </a:rPr>
              <a:t>オリエンFMTにMust項目を埋込み</a:t>
            </a:r>
            <a:endParaRPr sz="1500" b="1" dirty="0">
              <a:solidFill>
                <a:srgbClr val="1F3A5F"/>
              </a:solidFill>
              <a:latin typeface="Hiragino Sans"/>
              <a:cs typeface="Hiragino Sans"/>
            </a:endParaRPr>
          </a:p>
        </p:txBody>
      </p:sp>
      <p:sp>
        <p:nvSpPr>
          <p:cNvPr id="47" name="TextBox 46"/>
          <p:cNvSpPr txBox="1"/>
          <p:nvPr/>
        </p:nvSpPr>
        <p:spPr>
          <a:xfrm>
            <a:off x="731520" y="4800600"/>
            <a:ext cx="5029200" cy="457200"/>
          </a:xfrm>
          <a:prstGeom prst="rect">
            <a:avLst/>
          </a:prstGeom>
          <a:noFill/>
        </p:spPr>
        <p:txBody>
          <a:bodyPr wrap="square" lIns="0" tIns="0" rIns="0" bIns="0" anchor="t">
            <a:spAutoFit/>
          </a:bodyPr>
          <a:lstStyle/>
          <a:p>
            <a:pPr algn="l"/>
            <a:r>
              <a:rPr sz="1500" b="1">
                <a:solidFill>
                  <a:srgbClr val="1F3A5F"/>
                </a:solidFill>
                <a:latin typeface="Hiragino Sans"/>
                <a:cs typeface="Hiragino Sans"/>
              </a:rPr>
              <a:t>AIにセルフチェック＆自律改善させる</a:t>
            </a:r>
          </a:p>
        </p:txBody>
      </p:sp>
      <p:sp>
        <p:nvSpPr>
          <p:cNvPr id="48" name="TextBox 47"/>
          <p:cNvSpPr txBox="1"/>
          <p:nvPr/>
        </p:nvSpPr>
        <p:spPr>
          <a:xfrm>
            <a:off x="731520" y="5212080"/>
            <a:ext cx="5212080" cy="320040"/>
          </a:xfrm>
          <a:prstGeom prst="rect">
            <a:avLst/>
          </a:prstGeom>
          <a:noFill/>
        </p:spPr>
        <p:txBody>
          <a:bodyPr wrap="square" lIns="0" tIns="0" rIns="0" bIns="0" anchor="t">
            <a:spAutoFit/>
          </a:bodyPr>
          <a:lstStyle/>
          <a:p>
            <a:pPr algn="l"/>
            <a:r>
              <a:rPr sz="1100" b="0" dirty="0">
                <a:solidFill>
                  <a:srgbClr val="202020"/>
                </a:solidFill>
                <a:latin typeface="Hiragino Sans"/>
                <a:cs typeface="Hiragino Sans"/>
              </a:rPr>
              <a:t>• </a:t>
            </a:r>
            <a:r>
              <a:rPr sz="1100" b="0" dirty="0" err="1">
                <a:solidFill>
                  <a:srgbClr val="202020"/>
                </a:solidFill>
                <a:latin typeface="Hiragino Sans"/>
                <a:cs typeface="Hiragino Sans"/>
              </a:rPr>
              <a:t>使用禁止言語（薬機・景表違反、競合名、NGトーン</a:t>
            </a:r>
            <a:r>
              <a:rPr sz="1100" b="0" dirty="0">
                <a:solidFill>
                  <a:srgbClr val="202020"/>
                </a:solidFill>
                <a:latin typeface="Hiragino Sans"/>
                <a:cs typeface="Hiragino Sans"/>
              </a:rPr>
              <a:t>）</a:t>
            </a:r>
          </a:p>
        </p:txBody>
      </p:sp>
      <p:sp>
        <p:nvSpPr>
          <p:cNvPr id="49" name="TextBox 48"/>
          <p:cNvSpPr txBox="1"/>
          <p:nvPr/>
        </p:nvSpPr>
        <p:spPr>
          <a:xfrm>
            <a:off x="731520" y="5440680"/>
            <a:ext cx="5212080" cy="320040"/>
          </a:xfrm>
          <a:prstGeom prst="rect">
            <a:avLst/>
          </a:prstGeom>
          <a:noFill/>
        </p:spPr>
        <p:txBody>
          <a:bodyPr wrap="square" lIns="0" tIns="0" rIns="0" bIns="0" anchor="t">
            <a:spAutoFit/>
          </a:bodyPr>
          <a:lstStyle/>
          <a:p>
            <a:pPr algn="l"/>
            <a:r>
              <a:rPr sz="1100" b="0">
                <a:solidFill>
                  <a:srgbClr val="202020"/>
                </a:solidFill>
                <a:latin typeface="Hiragino Sans"/>
                <a:cs typeface="Hiragino Sans"/>
              </a:rPr>
              <a:t>• コピーの方向性（ターゲット・訴求・避けたい表現）</a:t>
            </a:r>
          </a:p>
        </p:txBody>
      </p:sp>
      <p:sp>
        <p:nvSpPr>
          <p:cNvPr id="50" name="TextBox 49"/>
          <p:cNvSpPr txBox="1"/>
          <p:nvPr/>
        </p:nvSpPr>
        <p:spPr>
          <a:xfrm>
            <a:off x="731520" y="5669280"/>
            <a:ext cx="5212080" cy="320040"/>
          </a:xfrm>
          <a:prstGeom prst="rect">
            <a:avLst/>
          </a:prstGeom>
          <a:noFill/>
        </p:spPr>
        <p:txBody>
          <a:bodyPr wrap="square" lIns="0" tIns="0" rIns="0" bIns="0" anchor="t">
            <a:spAutoFit/>
          </a:bodyPr>
          <a:lstStyle/>
          <a:p>
            <a:pPr algn="l"/>
            <a:r>
              <a:rPr sz="1100" b="0">
                <a:solidFill>
                  <a:srgbClr val="202020"/>
                </a:solidFill>
                <a:latin typeface="Hiragino Sans"/>
                <a:cs typeface="Hiragino Sans"/>
              </a:rPr>
              <a:t>• AIが生成時にセルフレビュー→違反なら自己修正</a:t>
            </a:r>
          </a:p>
        </p:txBody>
      </p:sp>
      <p:sp>
        <p:nvSpPr>
          <p:cNvPr id="51" name="TextBox 50"/>
          <p:cNvSpPr txBox="1"/>
          <p:nvPr/>
        </p:nvSpPr>
        <p:spPr>
          <a:xfrm>
            <a:off x="731520" y="5943600"/>
            <a:ext cx="5212080" cy="320040"/>
          </a:xfrm>
          <a:prstGeom prst="rect">
            <a:avLst/>
          </a:prstGeom>
          <a:noFill/>
        </p:spPr>
        <p:txBody>
          <a:bodyPr wrap="square" lIns="0" tIns="0" rIns="0" bIns="0" anchor="t">
            <a:spAutoFit/>
          </a:bodyPr>
          <a:lstStyle/>
          <a:p>
            <a:pPr algn="l"/>
            <a:r>
              <a:rPr sz="1100" b="1">
                <a:solidFill>
                  <a:srgbClr val="E56B2B"/>
                </a:solidFill>
                <a:latin typeface="Hiragino Sans"/>
                <a:cs typeface="Hiragino Sans"/>
              </a:rPr>
              <a:t>→ 軸⑤（見え方）＋ 軸③（AI一次レビュー）を同時実装</a:t>
            </a:r>
          </a:p>
        </p:txBody>
      </p:sp>
      <p:sp>
        <p:nvSpPr>
          <p:cNvPr id="52" name="Rectangle 51"/>
          <p:cNvSpPr/>
          <p:nvPr/>
        </p:nvSpPr>
        <p:spPr>
          <a:xfrm>
            <a:off x="6217920" y="4160520"/>
            <a:ext cx="5486400" cy="2194560"/>
          </a:xfrm>
          <a:prstGeom prst="rect">
            <a:avLst/>
          </a:prstGeom>
          <a:solidFill>
            <a:srgbClr val="E8F0FE"/>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6217920" y="4160520"/>
            <a:ext cx="109728" cy="2194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92240" y="4251960"/>
            <a:ext cx="5029200" cy="320040"/>
          </a:xfrm>
          <a:prstGeom prst="rect">
            <a:avLst/>
          </a:prstGeom>
          <a:noFill/>
        </p:spPr>
        <p:txBody>
          <a:bodyPr wrap="square" lIns="0" tIns="0" rIns="0" bIns="0" anchor="t">
            <a:spAutoFit/>
          </a:bodyPr>
          <a:lstStyle/>
          <a:p>
            <a:pPr algn="l"/>
            <a:r>
              <a:rPr sz="1100" b="1">
                <a:solidFill>
                  <a:srgbClr val="1F3A5F"/>
                </a:solidFill>
                <a:latin typeface="Hiragino Sans"/>
                <a:cs typeface="Hiragino Sans"/>
              </a:rPr>
              <a:t>打ち手 ②</a:t>
            </a:r>
          </a:p>
        </p:txBody>
      </p:sp>
      <p:sp>
        <p:nvSpPr>
          <p:cNvPr id="55" name="TextBox 54"/>
          <p:cNvSpPr txBox="1"/>
          <p:nvPr/>
        </p:nvSpPr>
        <p:spPr>
          <a:xfrm>
            <a:off x="6492240" y="4526280"/>
            <a:ext cx="5029200" cy="457200"/>
          </a:xfrm>
          <a:prstGeom prst="rect">
            <a:avLst/>
          </a:prstGeom>
          <a:noFill/>
        </p:spPr>
        <p:txBody>
          <a:bodyPr wrap="square" lIns="0" tIns="0" rIns="0" bIns="0" anchor="t">
            <a:spAutoFit/>
          </a:bodyPr>
          <a:lstStyle/>
          <a:p>
            <a:pPr algn="l"/>
            <a:r>
              <a:rPr sz="1500" b="1" dirty="0" err="1">
                <a:solidFill>
                  <a:srgbClr val="1F3A5F"/>
                </a:solidFill>
                <a:latin typeface="Hiragino Sans"/>
                <a:cs typeface="Hiragino Sans"/>
              </a:rPr>
              <a:t>配信後KPIをレビューメモに紐付けて返す</a:t>
            </a:r>
            <a:endParaRPr sz="1500" b="1" dirty="0">
              <a:solidFill>
                <a:srgbClr val="1F3A5F"/>
              </a:solidFill>
              <a:latin typeface="Hiragino Sans"/>
              <a:cs typeface="Hiragino Sans"/>
            </a:endParaRPr>
          </a:p>
        </p:txBody>
      </p:sp>
      <p:sp>
        <p:nvSpPr>
          <p:cNvPr id="56" name="TextBox 55"/>
          <p:cNvSpPr txBox="1"/>
          <p:nvPr/>
        </p:nvSpPr>
        <p:spPr>
          <a:xfrm>
            <a:off x="6492240" y="5212080"/>
            <a:ext cx="5120640" cy="320040"/>
          </a:xfrm>
          <a:prstGeom prst="rect">
            <a:avLst/>
          </a:prstGeom>
          <a:noFill/>
        </p:spPr>
        <p:txBody>
          <a:bodyPr wrap="square" lIns="0" tIns="0" rIns="0" bIns="0" anchor="t">
            <a:spAutoFit/>
          </a:bodyPr>
          <a:lstStyle/>
          <a:p>
            <a:pPr algn="l"/>
            <a:r>
              <a:rPr sz="1100" b="0">
                <a:solidFill>
                  <a:srgbClr val="202020"/>
                </a:solidFill>
                <a:latin typeface="Hiragino Sans"/>
                <a:cs typeface="Hiragino Sans"/>
              </a:rPr>
              <a:t>• レビュー指摘を構造化して記録</a:t>
            </a:r>
          </a:p>
        </p:txBody>
      </p:sp>
      <p:sp>
        <p:nvSpPr>
          <p:cNvPr id="57" name="TextBox 56"/>
          <p:cNvSpPr txBox="1"/>
          <p:nvPr/>
        </p:nvSpPr>
        <p:spPr>
          <a:xfrm>
            <a:off x="6492240" y="5440680"/>
            <a:ext cx="5120640" cy="320040"/>
          </a:xfrm>
          <a:prstGeom prst="rect">
            <a:avLst/>
          </a:prstGeom>
          <a:noFill/>
        </p:spPr>
        <p:txBody>
          <a:bodyPr wrap="square" lIns="0" tIns="0" rIns="0" bIns="0" anchor="t">
            <a:spAutoFit/>
          </a:bodyPr>
          <a:lstStyle/>
          <a:p>
            <a:pPr algn="l"/>
            <a:r>
              <a:rPr sz="1100" b="0" dirty="0">
                <a:solidFill>
                  <a:srgbClr val="202020"/>
                </a:solidFill>
                <a:latin typeface="Hiragino Sans"/>
                <a:cs typeface="Hiragino Sans"/>
              </a:rPr>
              <a:t>• 配信2〜4週後、CVR・CTRを同メモに追記し本人へ返却</a:t>
            </a:r>
          </a:p>
        </p:txBody>
      </p:sp>
      <p:sp>
        <p:nvSpPr>
          <p:cNvPr id="58" name="TextBox 57"/>
          <p:cNvSpPr txBox="1"/>
          <p:nvPr/>
        </p:nvSpPr>
        <p:spPr>
          <a:xfrm>
            <a:off x="6492240" y="5669280"/>
            <a:ext cx="5120640" cy="320040"/>
          </a:xfrm>
          <a:prstGeom prst="rect">
            <a:avLst/>
          </a:prstGeom>
          <a:noFill/>
        </p:spPr>
        <p:txBody>
          <a:bodyPr wrap="square" lIns="0" tIns="0" rIns="0" bIns="0" anchor="t">
            <a:spAutoFit/>
          </a:bodyPr>
          <a:lstStyle/>
          <a:p>
            <a:pPr algn="l"/>
            <a:r>
              <a:rPr sz="1100" b="0">
                <a:solidFill>
                  <a:srgbClr val="202020"/>
                </a:solidFill>
                <a:latin typeface="Hiragino Sans"/>
                <a:cs typeface="Hiragino Sans"/>
              </a:rPr>
              <a:t>• 月次で「どの指摘が効いたか」を振り返る</a:t>
            </a:r>
          </a:p>
        </p:txBody>
      </p:sp>
      <p:sp>
        <p:nvSpPr>
          <p:cNvPr id="59" name="TextBox 58"/>
          <p:cNvSpPr txBox="1"/>
          <p:nvPr/>
        </p:nvSpPr>
        <p:spPr>
          <a:xfrm>
            <a:off x="6492240" y="5943600"/>
            <a:ext cx="5120640" cy="320040"/>
          </a:xfrm>
          <a:prstGeom prst="rect">
            <a:avLst/>
          </a:prstGeom>
          <a:noFill/>
        </p:spPr>
        <p:txBody>
          <a:bodyPr wrap="square" lIns="0" tIns="0" rIns="0" bIns="0" anchor="t">
            <a:spAutoFit/>
          </a:bodyPr>
          <a:lstStyle/>
          <a:p>
            <a:pPr algn="l"/>
            <a:r>
              <a:rPr sz="1100" b="1">
                <a:solidFill>
                  <a:srgbClr val="1F3A5F"/>
                </a:solidFill>
                <a:latin typeface="Hiragino Sans"/>
                <a:cs typeface="Hiragino Sans"/>
              </a:rPr>
              <a:t>→ 軸④（判断と成果をつなげる）の本丸</a:t>
            </a:r>
          </a:p>
        </p:txBody>
      </p:sp>
      <p:sp>
        <p:nvSpPr>
          <p:cNvPr id="60" name="Rectangle 59"/>
          <p:cNvSpPr/>
          <p:nvPr/>
        </p:nvSpPr>
        <p:spPr>
          <a:xfrm>
            <a:off x="0" y="6583680"/>
            <a:ext cx="12191695" cy="27432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457200" y="6601968"/>
            <a:ext cx="10058400" cy="228600"/>
          </a:xfrm>
          <a:prstGeom prst="rect">
            <a:avLst/>
          </a:prstGeom>
          <a:noFill/>
        </p:spPr>
        <p:txBody>
          <a:bodyPr wrap="square" lIns="0" tIns="0" rIns="0" bIns="0" anchor="t">
            <a:spAutoFit/>
          </a:bodyPr>
          <a:lstStyle/>
          <a:p>
            <a:pPr algn="l"/>
            <a:r>
              <a:rPr sz="1000" b="0">
                <a:solidFill>
                  <a:srgbClr val="6C757D"/>
                </a:solidFill>
                <a:latin typeface="Hiragino Sans"/>
                <a:cs typeface="Hiragino Sans"/>
              </a:rPr>
              <a:t>AI時代の認知負荷と適切なHITL設計</a:t>
            </a:r>
          </a:p>
        </p:txBody>
      </p:sp>
      <p:sp>
        <p:nvSpPr>
          <p:cNvPr id="62" name="TextBox 61"/>
          <p:cNvSpPr txBox="1"/>
          <p:nvPr/>
        </p:nvSpPr>
        <p:spPr>
          <a:xfrm>
            <a:off x="11247120" y="6601968"/>
            <a:ext cx="731520" cy="228600"/>
          </a:xfrm>
          <a:prstGeom prst="rect">
            <a:avLst/>
          </a:prstGeom>
          <a:noFill/>
        </p:spPr>
        <p:txBody>
          <a:bodyPr wrap="square" lIns="0" tIns="0" rIns="0" bIns="0" anchor="t">
            <a:spAutoFit/>
          </a:bodyPr>
          <a:lstStyle/>
          <a:p>
            <a:pPr algn="r"/>
            <a:r>
              <a:rPr sz="1000" b="0">
                <a:solidFill>
                  <a:srgbClr val="6C757D"/>
                </a:solidFill>
                <a:latin typeface="Hiragino Sans"/>
                <a:cs typeface="Hiragino Sans"/>
              </a:rPr>
              <a:t>4 /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sp>
        <p:nvSpPr>
          <p:cNvPr id="2" name="Rectangle 1"/>
          <p:cNvSpPr/>
          <p:nvPr/>
        </p:nvSpPr>
        <p:spPr>
          <a:xfrm>
            <a:off x="0" y="457200"/>
            <a:ext cx="12191695" cy="73152"/>
          </a:xfrm>
          <a:prstGeom prst="rect">
            <a:avLst/>
          </a:prstGeom>
          <a:solidFill>
            <a:srgbClr val="E56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57200" y="685800"/>
            <a:ext cx="11247120" cy="365760"/>
          </a:xfrm>
          <a:prstGeom prst="rect">
            <a:avLst/>
          </a:prstGeom>
          <a:noFill/>
        </p:spPr>
        <p:txBody>
          <a:bodyPr wrap="square" lIns="0" tIns="0" rIns="0" bIns="0" anchor="t">
            <a:spAutoFit/>
          </a:bodyPr>
          <a:lstStyle/>
          <a:p>
            <a:pPr algn="l"/>
            <a:r>
              <a:rPr sz="1600" b="1">
                <a:solidFill>
                  <a:srgbClr val="FFFFFF"/>
                </a:solidFill>
                <a:latin typeface="Hiragino Sans"/>
                <a:cs typeface="Hiragino Sans"/>
              </a:rPr>
              <a:t>⑤ まとめ   |   グロースは"生成"ではなく、"検証の設計"に宿る</a:t>
            </a:r>
          </a:p>
        </p:txBody>
      </p:sp>
      <p:sp>
        <p:nvSpPr>
          <p:cNvPr id="4" name="TextBox 3"/>
          <p:cNvSpPr txBox="1"/>
          <p:nvPr/>
        </p:nvSpPr>
        <p:spPr>
          <a:xfrm>
            <a:off x="731520" y="1645920"/>
            <a:ext cx="10789920" cy="822960"/>
          </a:xfrm>
          <a:prstGeom prst="rect">
            <a:avLst/>
          </a:prstGeom>
          <a:noFill/>
        </p:spPr>
        <p:txBody>
          <a:bodyPr wrap="square" lIns="0" tIns="0" rIns="0" bIns="0" anchor="t">
            <a:spAutoFit/>
          </a:bodyPr>
          <a:lstStyle/>
          <a:p>
            <a:pPr algn="ctr"/>
            <a:r>
              <a:rPr sz="3400" b="1">
                <a:solidFill>
                  <a:srgbClr val="FFFFFF"/>
                </a:solidFill>
                <a:latin typeface="Hiragino Sans"/>
                <a:cs typeface="Hiragino Sans"/>
              </a:rPr>
              <a:t>生成を10倍にしただけでは、</a:t>
            </a:r>
          </a:p>
        </p:txBody>
      </p:sp>
      <p:sp>
        <p:nvSpPr>
          <p:cNvPr id="5" name="TextBox 4"/>
          <p:cNvSpPr txBox="1"/>
          <p:nvPr/>
        </p:nvSpPr>
        <p:spPr>
          <a:xfrm>
            <a:off x="731520" y="2286000"/>
            <a:ext cx="10789920" cy="822960"/>
          </a:xfrm>
          <a:prstGeom prst="rect">
            <a:avLst/>
          </a:prstGeom>
          <a:noFill/>
        </p:spPr>
        <p:txBody>
          <a:bodyPr wrap="square" lIns="0" tIns="0" rIns="0" bIns="0" anchor="t">
            <a:spAutoFit/>
          </a:bodyPr>
          <a:lstStyle/>
          <a:p>
            <a:pPr algn="ctr"/>
            <a:r>
              <a:rPr sz="3400" b="1">
                <a:solidFill>
                  <a:srgbClr val="FFFFFF"/>
                </a:solidFill>
                <a:latin typeface="Hiragino Sans"/>
                <a:cs typeface="Hiragino Sans"/>
              </a:rPr>
              <a:t>事業は10倍にならない。</a:t>
            </a:r>
          </a:p>
        </p:txBody>
      </p:sp>
      <p:sp>
        <p:nvSpPr>
          <p:cNvPr id="6" name="TextBox 5"/>
          <p:cNvSpPr txBox="1"/>
          <p:nvPr/>
        </p:nvSpPr>
        <p:spPr>
          <a:xfrm>
            <a:off x="731520" y="3246120"/>
            <a:ext cx="10789920" cy="822960"/>
          </a:xfrm>
          <a:prstGeom prst="rect">
            <a:avLst/>
          </a:prstGeom>
          <a:noFill/>
        </p:spPr>
        <p:txBody>
          <a:bodyPr wrap="square" lIns="0" tIns="0" rIns="0" bIns="0" anchor="t">
            <a:spAutoFit/>
          </a:bodyPr>
          <a:lstStyle/>
          <a:p>
            <a:pPr algn="ctr"/>
            <a:r>
              <a:rPr sz="3400" b="1" dirty="0" err="1">
                <a:solidFill>
                  <a:srgbClr val="E56B2B"/>
                </a:solidFill>
                <a:latin typeface="Hiragino Sans"/>
                <a:cs typeface="Hiragino Sans"/>
              </a:rPr>
              <a:t>検証側の設計が追いついて初めて</a:t>
            </a:r>
            <a:r>
              <a:rPr sz="3400" b="1" dirty="0">
                <a:solidFill>
                  <a:srgbClr val="E56B2B"/>
                </a:solidFill>
                <a:latin typeface="Hiragino Sans"/>
                <a:cs typeface="Hiragino Sans"/>
              </a:rPr>
              <a:t>、</a:t>
            </a:r>
          </a:p>
        </p:txBody>
      </p:sp>
      <p:sp>
        <p:nvSpPr>
          <p:cNvPr id="7" name="TextBox 6"/>
          <p:cNvSpPr txBox="1"/>
          <p:nvPr/>
        </p:nvSpPr>
        <p:spPr>
          <a:xfrm>
            <a:off x="731520" y="3886200"/>
            <a:ext cx="10789920" cy="822960"/>
          </a:xfrm>
          <a:prstGeom prst="rect">
            <a:avLst/>
          </a:prstGeom>
          <a:noFill/>
        </p:spPr>
        <p:txBody>
          <a:bodyPr wrap="square" lIns="0" tIns="0" rIns="0" bIns="0" anchor="t">
            <a:spAutoFit/>
          </a:bodyPr>
          <a:lstStyle/>
          <a:p>
            <a:pPr algn="ctr"/>
            <a:r>
              <a:rPr sz="3400" b="1">
                <a:solidFill>
                  <a:srgbClr val="E56B2B"/>
                </a:solidFill>
                <a:latin typeface="Hiragino Sans"/>
                <a:cs typeface="Hiragino Sans"/>
              </a:rPr>
              <a:t>グロースは実装される。</a:t>
            </a:r>
          </a:p>
        </p:txBody>
      </p:sp>
      <p:sp>
        <p:nvSpPr>
          <p:cNvPr id="8" name="Rectangle 7"/>
          <p:cNvSpPr/>
          <p:nvPr/>
        </p:nvSpPr>
        <p:spPr>
          <a:xfrm>
            <a:off x="2286000" y="5120640"/>
            <a:ext cx="7589520" cy="822960"/>
          </a:xfrm>
          <a:prstGeom prst="rect">
            <a:avLst/>
          </a:prstGeom>
          <a:solidFill>
            <a:srgbClr val="FFFFFF"/>
          </a:solidFill>
          <a:ln w="12700">
            <a:solidFill>
              <a:srgbClr val="E56B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468880" y="5212080"/>
            <a:ext cx="7223760" cy="320040"/>
          </a:xfrm>
          <a:prstGeom prst="rect">
            <a:avLst/>
          </a:prstGeom>
          <a:noFill/>
        </p:spPr>
        <p:txBody>
          <a:bodyPr wrap="square" lIns="0" tIns="0" rIns="0" bIns="0" anchor="t">
            <a:spAutoFit/>
          </a:bodyPr>
          <a:lstStyle/>
          <a:p>
            <a:pPr algn="ctr"/>
            <a:r>
              <a:rPr sz="1000" b="1">
                <a:solidFill>
                  <a:srgbClr val="E56B2B"/>
                </a:solidFill>
                <a:latin typeface="Hiragino Sans"/>
                <a:cs typeface="Hiragino Sans"/>
              </a:rPr>
              <a:t>締めの一言</a:t>
            </a:r>
          </a:p>
        </p:txBody>
      </p:sp>
      <p:sp>
        <p:nvSpPr>
          <p:cNvPr id="10" name="TextBox 9"/>
          <p:cNvSpPr txBox="1"/>
          <p:nvPr/>
        </p:nvSpPr>
        <p:spPr>
          <a:xfrm>
            <a:off x="2468880" y="5486400"/>
            <a:ext cx="7223760" cy="411480"/>
          </a:xfrm>
          <a:prstGeom prst="rect">
            <a:avLst/>
          </a:prstGeom>
          <a:noFill/>
        </p:spPr>
        <p:txBody>
          <a:bodyPr wrap="square" lIns="0" tIns="0" rIns="0" bIns="0" anchor="t">
            <a:spAutoFit/>
          </a:bodyPr>
          <a:lstStyle/>
          <a:p>
            <a:pPr algn="ctr"/>
            <a:r>
              <a:rPr sz="1600" b="1">
                <a:solidFill>
                  <a:srgbClr val="1F3A5F"/>
                </a:solidFill>
                <a:latin typeface="Hiragino Sans"/>
                <a:cs typeface="Hiragino Sans"/>
              </a:rPr>
              <a:t>人間の役割は「全部見る」から「見るべき場所を決める」へ</a:t>
            </a:r>
          </a:p>
        </p:txBody>
      </p:sp>
      <p:sp>
        <p:nvSpPr>
          <p:cNvPr id="11" name="TextBox 10"/>
          <p:cNvSpPr txBox="1"/>
          <p:nvPr/>
        </p:nvSpPr>
        <p:spPr>
          <a:xfrm>
            <a:off x="457200" y="6446520"/>
            <a:ext cx="11247120" cy="274320"/>
          </a:xfrm>
          <a:prstGeom prst="rect">
            <a:avLst/>
          </a:prstGeom>
          <a:noFill/>
        </p:spPr>
        <p:txBody>
          <a:bodyPr wrap="square" lIns="0" tIns="0" rIns="0" bIns="0" anchor="t">
            <a:spAutoFit/>
          </a:bodyPr>
          <a:lstStyle/>
          <a:p>
            <a:pPr algn="ctr"/>
            <a:r>
              <a:rPr sz="1000" b="0">
                <a:solidFill>
                  <a:srgbClr val="A0B0C0"/>
                </a:solidFill>
                <a:latin typeface="Hiragino Sans"/>
                <a:cs typeface="Hiragino Sans"/>
              </a:rPr>
              <a:t>2026-04-20  ASAKAI  |  d.ichioka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1072</Words>
  <Application>Microsoft Macintosh PowerPoint</Application>
  <PresentationFormat>ワイド画面</PresentationFormat>
  <Paragraphs>153</Paragraphs>
  <Slides>6</Slides>
  <Notes>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Hiragino Sans</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Ichioka Daisuke</cp:lastModifiedBy>
  <cp:revision>2</cp:revision>
  <dcterms:created xsi:type="dcterms:W3CDTF">2013-01-27T09:14:16Z</dcterms:created>
  <dcterms:modified xsi:type="dcterms:W3CDTF">2026-04-20T01:00:36Z</dcterms:modified>
  <cp:category/>
</cp:coreProperties>
</file>